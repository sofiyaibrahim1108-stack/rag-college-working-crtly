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00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1" r:id="rId15"/>
    <p:sldId id="273" r:id="rId16"/>
    <p:sldId id="272" r:id="rId17"/>
    <p:sldId id="301" r:id="rId18"/>
    <p:sldId id="274" r:id="rId19"/>
    <p:sldId id="298" r:id="rId20"/>
    <p:sldId id="297" r:id="rId21"/>
    <p:sldId id="296" r:id="rId22"/>
    <p:sldId id="299" r:id="rId23"/>
    <p:sldId id="286" r:id="rId24"/>
    <p:sldId id="275" r:id="rId25"/>
    <p:sldId id="276" r:id="rId26"/>
    <p:sldId id="300" r:id="rId27"/>
    <p:sldId id="277" r:id="rId28"/>
    <p:sldId id="353" r:id="rId29"/>
    <p:sldId id="354" r:id="rId30"/>
    <p:sldId id="355" r:id="rId31"/>
    <p:sldId id="278" r:id="rId32"/>
    <p:sldId id="356" r:id="rId33"/>
    <p:sldId id="302" r:id="rId34"/>
    <p:sldId id="280" r:id="rId35"/>
    <p:sldId id="281" r:id="rId36"/>
    <p:sldId id="282" r:id="rId37"/>
    <p:sldId id="283" r:id="rId38"/>
    <p:sldId id="284" r:id="rId39"/>
    <p:sldId id="285" r:id="rId40"/>
    <p:sldId id="317" r:id="rId41"/>
    <p:sldId id="306" r:id="rId42"/>
    <p:sldId id="307" r:id="rId43"/>
    <p:sldId id="308" r:id="rId44"/>
    <p:sldId id="287" r:id="rId45"/>
    <p:sldId id="288" r:id="rId46"/>
    <p:sldId id="289" r:id="rId47"/>
    <p:sldId id="290" r:id="rId48"/>
    <p:sldId id="291" r:id="rId49"/>
    <p:sldId id="312" r:id="rId50"/>
    <p:sldId id="311" r:id="rId51"/>
    <p:sldId id="348" r:id="rId52"/>
    <p:sldId id="347" r:id="rId53"/>
    <p:sldId id="310" r:id="rId54"/>
    <p:sldId id="350" r:id="rId55"/>
    <p:sldId id="349" r:id="rId56"/>
    <p:sldId id="313" r:id="rId57"/>
    <p:sldId id="351" r:id="rId58"/>
    <p:sldId id="352" r:id="rId59"/>
    <p:sldId id="309" r:id="rId60"/>
    <p:sldId id="292" r:id="rId61"/>
    <p:sldId id="293" r:id="rId62"/>
    <p:sldId id="303" r:id="rId63"/>
    <p:sldId id="304" r:id="rId64"/>
    <p:sldId id="305" r:id="rId65"/>
    <p:sldId id="294" r:id="rId66"/>
    <p:sldId id="295" r:id="rId67"/>
    <p:sldId id="314" r:id="rId68"/>
    <p:sldId id="315" r:id="rId69"/>
    <p:sldId id="316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32" autoAdjust="0"/>
  </p:normalViewPr>
  <p:slideViewPr>
    <p:cSldViewPr snapToGrid="0" snapToObjects="1"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0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21221"/>
    </p:cViewPr>
  </p:sorterViewPr>
  <p:notesViewPr>
    <p:cSldViewPr snapToGrid="0" snapToObjects="1">
      <p:cViewPr varScale="1">
        <p:scale>
          <a:sx n="65" d="100"/>
          <a:sy n="65" d="100"/>
        </p:scale>
        <p:origin x="3154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60B9D-8B7C-4619-8139-22AF4D4B3E58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42C45-FC0D-4DB6-80CC-266351954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93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42C45-FC0D-4DB6-80CC-266351954130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792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1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6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60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0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0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4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4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5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8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282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11D5-2194-4E5B-B561-4DF74D17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54" y="184885"/>
            <a:ext cx="7543800" cy="1450757"/>
          </a:xfrm>
        </p:spPr>
        <p:txBody>
          <a:bodyPr/>
          <a:lstStyle/>
          <a:p>
            <a:pPr algn="ctr"/>
            <a:r>
              <a:rPr lang="en-US" dirty="0"/>
              <a:t>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FE617-8534-4978-B9F0-5C6FE6871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370" y="2047275"/>
            <a:ext cx="7543801" cy="4023360"/>
          </a:xfrm>
        </p:spPr>
        <p:txBody>
          <a:bodyPr/>
          <a:lstStyle/>
          <a:p>
            <a:r>
              <a:rPr lang="en-US" b="1" dirty="0"/>
              <a:t>1. Introduction to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is a </a:t>
            </a:r>
            <a:r>
              <a:rPr lang="en-US" b="1" dirty="0"/>
              <a:t>high-level, interpreted programming language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by Guido van Rossum in 1991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Known for </a:t>
            </a:r>
            <a:r>
              <a:rPr lang="en-US" b="1" dirty="0"/>
              <a:t>simple syntax</a:t>
            </a:r>
            <a:r>
              <a:rPr lang="en-US" dirty="0"/>
              <a:t> and readability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Web Development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Science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&amp; Machine Learning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59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Reasons why Python is preferred over other programming 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read and write</a:t>
            </a:r>
          </a:p>
          <a:p>
            <a:r>
              <a:t>Less code compared to other languages</a:t>
            </a:r>
          </a:p>
          <a:p>
            <a:r>
              <a:t>Beginner friendly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programs quickly</a:t>
            </a:r>
          </a:p>
          <a:p>
            <a:r>
              <a:t>Less coding effort</a:t>
            </a:r>
          </a:p>
          <a:p>
            <a:r>
              <a:t>Best for projects and prototypes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Huge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pandas, numpy, tensorflow</a:t>
            </a:r>
          </a:p>
          <a:p>
            <a:r>
              <a:t>Reduces coding time</a:t>
            </a:r>
          </a:p>
          <a:p>
            <a:r>
              <a:t>Reusable code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AI, ML, Data Science</a:t>
            </a:r>
          </a:p>
          <a:p>
            <a:r>
              <a:t>Popular in industry</a:t>
            </a:r>
          </a:p>
          <a:p>
            <a:r>
              <a:t>High demand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Independent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on Windows, Linux, Mac</a:t>
            </a:r>
          </a:p>
          <a:p>
            <a:r>
              <a:t>No need to rewrite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Easy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Interpreted language</a:t>
            </a:r>
          </a:p>
          <a:p>
            <a:r>
              <a:t>Errors shown line by line</a:t>
            </a:r>
          </a:p>
          <a:p>
            <a:r>
              <a:t>Easy to fix bugs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need to declare data types</a:t>
            </a:r>
          </a:p>
          <a:p>
            <a:r>
              <a:t>Flexible coding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global support</a:t>
            </a:r>
          </a:p>
          <a:p>
            <a:r>
              <a:t>Plenty of tutorials and help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E277-2789-4A51-AA41-DF25BA2C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Installation &amp; Execution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4F673C-58C8-4F75-B882-0EAC3E358B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2149254"/>
            <a:ext cx="59891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from: python.org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Python: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mode (REPL)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 mode (.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print("Hello, World!")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359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9E22EA4-92F4-4F3C-8148-5D26EEEE31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6995" y="796277"/>
            <a:ext cx="7361853" cy="5083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800" dirty="0"/>
              <a:t>A variable is a </a:t>
            </a:r>
            <a:r>
              <a:rPr lang="en-US" sz="2800" b="1" dirty="0"/>
              <a:t>container to store data</a:t>
            </a:r>
            <a:endParaRPr lang="en-US" sz="2800" dirty="0"/>
          </a:p>
          <a:p>
            <a:r>
              <a:rPr lang="en-US" sz="2800" dirty="0"/>
              <a:t>Rules:</a:t>
            </a:r>
          </a:p>
          <a:p>
            <a:r>
              <a:rPr lang="en-US" sz="2800" dirty="0"/>
              <a:t>Cannot start with number </a:t>
            </a:r>
          </a:p>
          <a:p>
            <a:r>
              <a:rPr lang="en-US" sz="2800" dirty="0"/>
              <a:t>No spaces </a:t>
            </a:r>
          </a:p>
          <a:p>
            <a:r>
              <a:rPr lang="en-US" sz="2800" dirty="0"/>
              <a:t>Use underscore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10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 = “ram"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16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CB3AF-4E85-4032-B336-72DC475C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EFA8CF-428B-44D3-8947-0AF7155905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646075"/>
              </p:ext>
            </p:extLst>
          </p:nvPr>
        </p:nvGraphicFramePr>
        <p:xfrm>
          <a:off x="1335509" y="2092999"/>
          <a:ext cx="7543800" cy="402336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312466552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3775066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55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3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3.14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367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str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"Hello"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521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bool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True /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837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[1, 2, 3]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818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tuple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(1, 2, 3)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066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dict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{"a":1}</a:t>
                      </a:r>
                    </a:p>
                    <a:p>
                      <a:r>
                        <a:rPr lang="en-IN" sz="2400" dirty="0"/>
                        <a:t>Set {1,3,4,5,6,7}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22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56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8B556-2584-45A6-ACF4-79FBEC2A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Input &amp; Output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9F0CA3-58C1-419E-B838-2305822E40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2749429"/>
            <a:ext cx="7167347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 = input("Enter your name: ")</a:t>
            </a:r>
            <a:b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print("Hello", name)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363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A07E-0B6F-419A-9BD4-A1EAEB878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3F351-61EA-498D-A5B2-BBB871823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3600" dirty="0"/>
          </a:p>
          <a:p>
            <a:r>
              <a:rPr lang="es-ES" sz="3600" dirty="0"/>
              <a:t>x = </a:t>
            </a:r>
            <a:r>
              <a:rPr lang="es-ES" sz="3600" dirty="0" err="1"/>
              <a:t>int</a:t>
            </a:r>
            <a:r>
              <a:rPr lang="es-ES" sz="3600" dirty="0"/>
              <a:t>("10")</a:t>
            </a:r>
            <a:br>
              <a:rPr lang="es-ES" sz="3600" dirty="0"/>
            </a:br>
            <a:r>
              <a:rPr lang="es-ES" sz="3600" dirty="0"/>
              <a:t>y = </a:t>
            </a:r>
            <a:r>
              <a:rPr lang="es-ES" sz="3600" dirty="0" err="1"/>
              <a:t>float</a:t>
            </a:r>
            <a:r>
              <a:rPr lang="es-ES" sz="3600" dirty="0"/>
              <a:t>(5)</a:t>
            </a:r>
          </a:p>
          <a:p>
            <a:r>
              <a:rPr lang="es-ES" sz="3600" dirty="0"/>
              <a:t>Z=</a:t>
            </a:r>
            <a:r>
              <a:rPr lang="es-ES" sz="3600" dirty="0" err="1"/>
              <a:t>str</a:t>
            </a:r>
            <a:r>
              <a:rPr lang="es-ES" sz="3600" dirty="0"/>
              <a:t>(1)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33142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9A1B-42BA-4E8F-AB93-3E86CF7B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E637-0273-4493-8FCF-6913504DD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This is a comment</a:t>
            </a:r>
          </a:p>
          <a:p>
            <a:endParaRPr lang="en-IN" dirty="0"/>
          </a:p>
          <a:p>
            <a:r>
              <a:rPr lang="en-IN" dirty="0"/>
              <a:t>‘’’</a:t>
            </a:r>
          </a:p>
          <a:p>
            <a:r>
              <a:rPr lang="en-IN" dirty="0"/>
              <a:t>This is also a comments In python</a:t>
            </a:r>
          </a:p>
          <a:p>
            <a:r>
              <a:rPr lang="en-IN" dirty="0"/>
              <a:t>‘’’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473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E19F-CEF0-4520-B1CB-DE00CD1B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corner- input &amp;output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DBEC4-079F-4965-98E8-5001F71F1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Get input of datatypes as </a:t>
            </a:r>
            <a:r>
              <a:rPr lang="en-US" dirty="0" err="1"/>
              <a:t>name,age,marks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and print the result</a:t>
            </a:r>
          </a:p>
          <a:p>
            <a:endParaRPr lang="en-US" dirty="0"/>
          </a:p>
          <a:p>
            <a:r>
              <a:rPr lang="en-US" dirty="0"/>
              <a:t>2. find the type of all variables in program and use type casting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082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51C7-4EBE-4406-BF89-FBD0347B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984844-78FB-42CC-AFF1-970A1BDA0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1911765"/>
            <a:ext cx="3231719" cy="389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Arithmetic operators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Assignment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Comparison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Logical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Identity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Membership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 Bitwise operators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4AB26-9B38-4714-82C2-3D0FFB19E57E}"/>
              </a:ext>
            </a:extLst>
          </p:cNvPr>
          <p:cNvSpPr txBox="1"/>
          <p:nvPr/>
        </p:nvSpPr>
        <p:spPr>
          <a:xfrm>
            <a:off x="5008346" y="2072807"/>
            <a:ext cx="3312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Operators are used to perform operations on variables and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776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F0C7-A5FF-4EFD-A81E-8CB9EBB7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329D6B6-199B-4BD9-97BE-EA79B9047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980078"/>
              </p:ext>
            </p:extLst>
          </p:nvPr>
        </p:nvGraphicFramePr>
        <p:xfrm>
          <a:off x="1181547" y="2272664"/>
          <a:ext cx="6991906" cy="3478424"/>
        </p:xfrm>
        <a:graphic>
          <a:graphicData uri="http://schemas.openxmlformats.org/drawingml/2006/table">
            <a:tbl>
              <a:tblPr/>
              <a:tblGrid>
                <a:gridCol w="1942154">
                  <a:extLst>
                    <a:ext uri="{9D8B030D-6E8A-4147-A177-3AD203B41FA5}">
                      <a16:colId xmlns:a16="http://schemas.microsoft.com/office/drawing/2014/main" val="1882338974"/>
                    </a:ext>
                  </a:extLst>
                </a:gridCol>
                <a:gridCol w="2719149">
                  <a:extLst>
                    <a:ext uri="{9D8B030D-6E8A-4147-A177-3AD203B41FA5}">
                      <a16:colId xmlns:a16="http://schemas.microsoft.com/office/drawing/2014/main" val="2627543655"/>
                    </a:ext>
                  </a:extLst>
                </a:gridCol>
                <a:gridCol w="2330603">
                  <a:extLst>
                    <a:ext uri="{9D8B030D-6E8A-4147-A177-3AD203B41FA5}">
                      <a16:colId xmlns:a16="http://schemas.microsoft.com/office/drawing/2014/main" val="3133563094"/>
                    </a:ext>
                  </a:extLst>
                </a:gridCol>
              </a:tblGrid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Name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9403"/>
                  </a:ext>
                </a:extLst>
              </a:tr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+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Addition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x +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111178"/>
                  </a:ext>
                </a:extLst>
              </a:tr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-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Subtraction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x -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228125"/>
                  </a:ext>
                </a:extLst>
              </a:tr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*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Multiplication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*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611307"/>
                  </a:ext>
                </a:extLst>
              </a:tr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/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Division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/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51737"/>
                  </a:ext>
                </a:extLst>
              </a:tr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%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Modulus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%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125884"/>
                  </a:ext>
                </a:extLst>
              </a:tr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**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Exponentiation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**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58370"/>
                  </a:ext>
                </a:extLst>
              </a:tr>
              <a:tr h="434803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//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Floor division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x //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67690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4B086B34-0452-4C46-B351-D32C16DCF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273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423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E4FB-00AB-4A93-8F9F-AECC8291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E2F5BA-F42E-466F-9675-C9B955AE7C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163873"/>
              </p:ext>
            </p:extLst>
          </p:nvPr>
        </p:nvGraphicFramePr>
        <p:xfrm>
          <a:off x="1181545" y="2470784"/>
          <a:ext cx="6935758" cy="3135930"/>
        </p:xfrm>
        <a:graphic>
          <a:graphicData uri="http://schemas.openxmlformats.org/drawingml/2006/table">
            <a:tbl>
              <a:tblPr/>
              <a:tblGrid>
                <a:gridCol w="2667634">
                  <a:extLst>
                    <a:ext uri="{9D8B030D-6E8A-4147-A177-3AD203B41FA5}">
                      <a16:colId xmlns:a16="http://schemas.microsoft.com/office/drawing/2014/main" val="4291631738"/>
                    </a:ext>
                  </a:extLst>
                </a:gridCol>
                <a:gridCol w="2134062">
                  <a:extLst>
                    <a:ext uri="{9D8B030D-6E8A-4147-A177-3AD203B41FA5}">
                      <a16:colId xmlns:a16="http://schemas.microsoft.com/office/drawing/2014/main" val="350078696"/>
                    </a:ext>
                  </a:extLst>
                </a:gridCol>
                <a:gridCol w="2134062">
                  <a:extLst>
                    <a:ext uri="{9D8B030D-6E8A-4147-A177-3AD203B41FA5}">
                      <a16:colId xmlns:a16="http://schemas.microsoft.com/office/drawing/2014/main" val="2262996195"/>
                    </a:ext>
                  </a:extLst>
                </a:gridCol>
              </a:tblGrid>
              <a:tr h="44799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Same As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304848"/>
                  </a:ext>
                </a:extLst>
              </a:tr>
              <a:tr h="44799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= 5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= 5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040518"/>
                  </a:ext>
                </a:extLst>
              </a:tr>
              <a:tr h="44799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+=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x +=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= x + 3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386201"/>
                  </a:ext>
                </a:extLst>
              </a:tr>
              <a:tr h="44799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-=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-=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= x - 3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35440"/>
                  </a:ext>
                </a:extLst>
              </a:tr>
              <a:tr h="447990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*=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*=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= x *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50604"/>
                  </a:ext>
                </a:extLst>
              </a:tr>
              <a:tr h="44799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/=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/=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= x /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15066"/>
                  </a:ext>
                </a:extLst>
              </a:tr>
              <a:tr h="44799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%=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%=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x = x % 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033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901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5866-4384-4671-AF40-D6D41C11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6AC7CA-53C9-4033-A26C-A3C01FD6C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431685"/>
              </p:ext>
            </p:extLst>
          </p:nvPr>
        </p:nvGraphicFramePr>
        <p:xfrm>
          <a:off x="1181546" y="2470785"/>
          <a:ext cx="6775337" cy="3143952"/>
        </p:xfrm>
        <a:graphic>
          <a:graphicData uri="http://schemas.openxmlformats.org/drawingml/2006/table">
            <a:tbl>
              <a:tblPr/>
              <a:tblGrid>
                <a:gridCol w="1881997">
                  <a:extLst>
                    <a:ext uri="{9D8B030D-6E8A-4147-A177-3AD203B41FA5}">
                      <a16:colId xmlns:a16="http://schemas.microsoft.com/office/drawing/2014/main" val="1988298507"/>
                    </a:ext>
                  </a:extLst>
                </a:gridCol>
                <a:gridCol w="2634925">
                  <a:extLst>
                    <a:ext uri="{9D8B030D-6E8A-4147-A177-3AD203B41FA5}">
                      <a16:colId xmlns:a16="http://schemas.microsoft.com/office/drawing/2014/main" val="750424381"/>
                    </a:ext>
                  </a:extLst>
                </a:gridCol>
                <a:gridCol w="2258415">
                  <a:extLst>
                    <a:ext uri="{9D8B030D-6E8A-4147-A177-3AD203B41FA5}">
                      <a16:colId xmlns:a16="http://schemas.microsoft.com/office/drawing/2014/main" val="2164777410"/>
                    </a:ext>
                  </a:extLst>
                </a:gridCol>
              </a:tblGrid>
              <a:tr h="4491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Name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688388"/>
                  </a:ext>
                </a:extLst>
              </a:tr>
              <a:tr h="4491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==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Equal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==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77562"/>
                  </a:ext>
                </a:extLst>
              </a:tr>
              <a:tr h="4491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!=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Not equal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!=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229449"/>
                  </a:ext>
                </a:extLst>
              </a:tr>
              <a:tr h="4491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Greater than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x &gt;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314877"/>
                  </a:ext>
                </a:extLst>
              </a:tr>
              <a:tr h="4491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&lt;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Less than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&lt;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278513"/>
                  </a:ext>
                </a:extLst>
              </a:tr>
              <a:tr h="4491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&gt;=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Greater than or equal to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x &gt;=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92611"/>
                  </a:ext>
                </a:extLst>
              </a:tr>
              <a:tr h="4491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&lt;=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Less than or equal to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effectLst/>
                        </a:rPr>
                        <a:t>x &lt;=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74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316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F75F-B00C-46A7-84CA-E231CE03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5D6579-B8E6-45A9-9CA1-2C084776E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657573"/>
              </p:ext>
            </p:extLst>
          </p:nvPr>
        </p:nvGraphicFramePr>
        <p:xfrm>
          <a:off x="1181546" y="2516505"/>
          <a:ext cx="6743253" cy="2993957"/>
        </p:xfrm>
        <a:graphic>
          <a:graphicData uri="http://schemas.openxmlformats.org/drawingml/2006/table">
            <a:tbl>
              <a:tblPr/>
              <a:tblGrid>
                <a:gridCol w="1873085">
                  <a:extLst>
                    <a:ext uri="{9D8B030D-6E8A-4147-A177-3AD203B41FA5}">
                      <a16:colId xmlns:a16="http://schemas.microsoft.com/office/drawing/2014/main" val="809142202"/>
                    </a:ext>
                  </a:extLst>
                </a:gridCol>
                <a:gridCol w="2622448">
                  <a:extLst>
                    <a:ext uri="{9D8B030D-6E8A-4147-A177-3AD203B41FA5}">
                      <a16:colId xmlns:a16="http://schemas.microsoft.com/office/drawing/2014/main" val="4010134278"/>
                    </a:ext>
                  </a:extLst>
                </a:gridCol>
                <a:gridCol w="2247720">
                  <a:extLst>
                    <a:ext uri="{9D8B030D-6E8A-4147-A177-3AD203B41FA5}">
                      <a16:colId xmlns:a16="http://schemas.microsoft.com/office/drawing/2014/main" val="2026645881"/>
                    </a:ext>
                  </a:extLst>
                </a:gridCol>
              </a:tblGrid>
              <a:tr h="442289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583261"/>
                  </a:ext>
                </a:extLst>
              </a:tr>
              <a:tr h="748489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and 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Returns True if both statements are true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x &lt; 5 and  x &lt; 10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356489"/>
                  </a:ext>
                </a:extLst>
              </a:tr>
              <a:tr h="748489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Returns True if one of the statements is true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x &lt; 5 or x &lt; 4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10842"/>
                  </a:ext>
                </a:extLst>
              </a:tr>
              <a:tr h="105469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effectLst/>
                        </a:rPr>
                        <a:t>not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>
                          <a:effectLst/>
                        </a:rPr>
                        <a:t>Reverse the result, returns False if the result is true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</a:rPr>
                        <a:t>not(x &lt; 5 and x &lt; 10)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134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288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F0E219-F6A7-481F-9453-099081B3C8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 statements and looping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BACEBAB-2C49-4959-9166-B9347B676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Make decisions in programs</a:t>
            </a:r>
          </a:p>
          <a:p>
            <a:r>
              <a:rPr lang="en-IN" dirty="0"/>
              <a:t>Repeat tasks using loops</a:t>
            </a:r>
          </a:p>
        </p:txBody>
      </p:sp>
    </p:spTree>
    <p:extLst>
      <p:ext uri="{BB962C8B-B14F-4D97-AF65-F5344CB8AC3E}">
        <p14:creationId xmlns:p14="http://schemas.microsoft.com/office/powerpoint/2010/main" val="3658042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6763-63DD-4765-B4E6-190DE9C4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Control Structures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0D5985-D94A-41CA-90CE-F1F6768385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2836" y="1939956"/>
            <a:ext cx="219643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if-else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if-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-else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18F0B-3362-4B07-8803-64FD829001A8}"/>
              </a:ext>
            </a:extLst>
          </p:cNvPr>
          <p:cNvSpPr txBox="1"/>
          <p:nvPr/>
        </p:nvSpPr>
        <p:spPr>
          <a:xfrm>
            <a:off x="4594860" y="2647841"/>
            <a:ext cx="31495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if 10 &gt; 5:</a:t>
            </a:r>
            <a:br>
              <a:rPr lang="en-US" sz="3600" dirty="0"/>
            </a:br>
            <a:r>
              <a:rPr lang="en-US" sz="3600" dirty="0"/>
              <a:t>	print("True")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75167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4842-C7B6-4AB0-987A-379B5DB5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Elif</a:t>
            </a:r>
            <a:r>
              <a:rPr lang="en-IN" b="1" dirty="0"/>
              <a:t>                               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E0CE-FF5A-4AD1-AAEA-D006E583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marks = 75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if marks &gt;= 90:</a:t>
            </a:r>
            <a:br>
              <a:rPr lang="en-US" sz="3600" dirty="0"/>
            </a:br>
            <a:r>
              <a:rPr lang="en-US" sz="3600" dirty="0"/>
              <a:t>	print("A")</a:t>
            </a:r>
            <a:br>
              <a:rPr lang="en-US" sz="3600" dirty="0"/>
            </a:br>
            <a:r>
              <a:rPr lang="en-US" sz="3600" dirty="0" err="1"/>
              <a:t>elif</a:t>
            </a:r>
            <a:r>
              <a:rPr lang="en-US" sz="3600" dirty="0"/>
              <a:t> marks &gt;= 60:</a:t>
            </a:r>
            <a:br>
              <a:rPr lang="en-US" sz="3600" dirty="0"/>
            </a:br>
            <a:r>
              <a:rPr lang="en-US" sz="3600" dirty="0"/>
              <a:t>	print("B")</a:t>
            </a:r>
            <a:br>
              <a:rPr lang="en-US" sz="3600" dirty="0"/>
            </a:br>
            <a:r>
              <a:rPr lang="en-US" sz="3600" dirty="0"/>
              <a:t>else:</a:t>
            </a:r>
            <a:br>
              <a:rPr lang="en-US" sz="3600" dirty="0"/>
            </a:br>
            <a:r>
              <a:rPr lang="en-US" sz="3600" dirty="0"/>
              <a:t>	print("C")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FB2F6-9580-4C34-93C5-512BD3C510A4}"/>
              </a:ext>
            </a:extLst>
          </p:cNvPr>
          <p:cNvSpPr txBox="1"/>
          <p:nvPr/>
        </p:nvSpPr>
        <p:spPr>
          <a:xfrm>
            <a:off x="5589037" y="1951672"/>
            <a:ext cx="27320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age = 18</a:t>
            </a:r>
            <a:br>
              <a:rPr lang="en-US" sz="3200" dirty="0"/>
            </a:br>
            <a:r>
              <a:rPr lang="en-US" sz="3200" dirty="0"/>
              <a:t>if age &gt;= 18:</a:t>
            </a:r>
            <a:br>
              <a:rPr lang="en-US" sz="3200" dirty="0"/>
            </a:br>
            <a:r>
              <a:rPr lang="en-US" sz="3200" dirty="0"/>
              <a:t>print("Adult")</a:t>
            </a:r>
            <a:br>
              <a:rPr lang="en-US" sz="3200" dirty="0"/>
            </a:br>
            <a:r>
              <a:rPr lang="en-US" sz="3200" dirty="0"/>
              <a:t>else:</a:t>
            </a:r>
            <a:br>
              <a:rPr lang="en-US" sz="3200" dirty="0"/>
            </a:br>
            <a:r>
              <a:rPr lang="en-US" sz="3200" dirty="0"/>
              <a:t>print("Minor")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56815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4850-FD3B-4CA3-83E2-AF6F6A2B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corner –If condition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11E93-D153-4861-BD88-E060362C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Marksheet preparation using student details and </a:t>
            </a:r>
            <a:r>
              <a:rPr lang="en-IN" dirty="0" err="1"/>
              <a:t>marks,if</a:t>
            </a:r>
            <a:r>
              <a:rPr lang="en-IN" dirty="0"/>
              <a:t> student failed in any subject the total grade should be </a:t>
            </a:r>
            <a:r>
              <a:rPr lang="en-IN" dirty="0" err="1"/>
              <a:t>fail,otherwise</a:t>
            </a:r>
            <a:r>
              <a:rPr lang="en-IN" dirty="0"/>
              <a:t> print their respective grades.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Get dynamic input from user to check the given number is Even/</a:t>
            </a:r>
            <a:r>
              <a:rPr lang="en-IN" dirty="0" err="1"/>
              <a:t>Odd.print</a:t>
            </a:r>
            <a:r>
              <a:rPr lang="en-IN" dirty="0"/>
              <a:t> the result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124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880F-85C0-449B-902E-9820579F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 statements- for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F0464D-AFF5-4BB0-98D3-44D6354E2B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2236541"/>
            <a:ext cx="701946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for loop is used for iterating over a sequence (that is either a list, a tuple, a dictionary, a set, or a string).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Loop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 range(5):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print(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35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E6608-25C3-4BCF-8F62-4F3526C3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3787A3-6B19-430D-8123-3BFFC80D15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325" y="2211021"/>
            <a:ext cx="75438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 a set of statements as long as a condition is true.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w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hile Loop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 5: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print(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+= 1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438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F4E9-FD52-43B1-A0BA-D829B9E79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F4B7-64E7-4E7A-8B6C-233DD46E7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break statement we can stop the loop even if the while condition is true: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lang="en-IN" dirty="0"/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 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 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 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12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EA1C-320A-44FE-8640-4D09A721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F9CFB-516A-40F0-8AE2-3239AFF60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continue statement we can stop the current iteration of the loop, and continue with the next: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 = [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fruits: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continue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278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8ABA-372E-4E82-889F-074E1006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4C5E-41D6-4EA4-86DA-B6C54CE88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dirty="0"/>
              <a:t>for </a:t>
            </a:r>
            <a:r>
              <a:rPr lang="en-IN" sz="2400" dirty="0" err="1"/>
              <a:t>i</a:t>
            </a:r>
            <a:r>
              <a:rPr lang="en-IN" sz="2400" dirty="0"/>
              <a:t> in range(1, 10, 2):</a:t>
            </a:r>
          </a:p>
          <a:p>
            <a:r>
              <a:rPr lang="en-IN" sz="2400" dirty="0"/>
              <a:t>    print(</a:t>
            </a:r>
            <a:r>
              <a:rPr lang="en-IN" sz="2400" dirty="0" err="1"/>
              <a:t>i</a:t>
            </a:r>
            <a:r>
              <a:rPr lang="en-IN" sz="2400" dirty="0"/>
              <a:t>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u="sng" dirty="0"/>
              <a:t>Output:</a:t>
            </a:r>
            <a:r>
              <a:rPr lang="en-IN" sz="2400" dirty="0"/>
              <a:t>                                                  </a:t>
            </a:r>
            <a:r>
              <a:rPr lang="en-IN" sz="2000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2000" b="0" i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start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IN" sz="2000" b="0" i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stop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IN" sz="2000" b="0" i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step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sz="2400" u="sng" dirty="0"/>
          </a:p>
          <a:p>
            <a:r>
              <a:rPr lang="en-IN" sz="2400" dirty="0"/>
              <a:t>1</a:t>
            </a:r>
          </a:p>
          <a:p>
            <a:r>
              <a:rPr lang="en-IN" sz="2400" dirty="0"/>
              <a:t>3</a:t>
            </a:r>
          </a:p>
          <a:p>
            <a:r>
              <a:rPr lang="en-IN" sz="2400" dirty="0"/>
              <a:t>5</a:t>
            </a:r>
          </a:p>
          <a:p>
            <a:r>
              <a:rPr lang="en-IN" sz="2400" dirty="0"/>
              <a:t>7</a:t>
            </a:r>
          </a:p>
          <a:p>
            <a:r>
              <a:rPr lang="en-IN" sz="24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25827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52D3-214E-4DDA-AAC3-FB728F43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128CA-E12F-47FA-BD25-AF08D3DA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lambda function in Python is just a small, anonymous function. "Anonymous" means it is a function defined without a name.</a:t>
            </a:r>
          </a:p>
          <a:p>
            <a:r>
              <a:rPr lang="en-US" dirty="0"/>
              <a:t>lambda arguments: expression</a:t>
            </a:r>
          </a:p>
          <a:p>
            <a:r>
              <a:rPr lang="en-US" dirty="0"/>
              <a:t>arguments: The inputs you pass into the function (just like variables inside def </a:t>
            </a:r>
            <a:r>
              <a:rPr lang="en-US" dirty="0" err="1"/>
              <a:t>my_func</a:t>
            </a:r>
            <a:r>
              <a:rPr lang="en-US" dirty="0"/>
              <a:t>(x, y)</a:t>
            </a:r>
          </a:p>
          <a:p>
            <a:r>
              <a:rPr lang="en-US" dirty="0"/>
              <a:t>expression: A single piece of code that gets executed and automatically returned. You don't write the word return.</a:t>
            </a:r>
          </a:p>
          <a:p>
            <a:endParaRPr lang="en-US" dirty="0"/>
          </a:p>
          <a:p>
            <a:r>
              <a:rPr lang="fr-FR" dirty="0"/>
              <a:t>double = lambda x: x * 2 </a:t>
            </a:r>
          </a:p>
          <a:p>
            <a:r>
              <a:rPr lang="fr-FR" dirty="0" err="1"/>
              <a:t>print</a:t>
            </a:r>
            <a:r>
              <a:rPr lang="fr-FR" dirty="0"/>
              <a:t>(double(5)) # Output: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067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474C-6DFA-4E41-BD0A-1D03DB12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corner –</a:t>
            </a:r>
            <a:r>
              <a:rPr lang="en-US" dirty="0" err="1"/>
              <a:t>Loops,Range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7006-D2F8-4AAD-AE47-AF72A5948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Pattern printing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Print Multiplication table as per the table number given by the user.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01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861577-953F-410A-8F8D-9ADA965A7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Built-in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F003A5B-0A54-4ED9-9D95-3BC3B85C6A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Use Python libraries</a:t>
            </a:r>
          </a:p>
        </p:txBody>
      </p:sp>
    </p:spTree>
    <p:extLst>
      <p:ext uri="{BB962C8B-B14F-4D97-AF65-F5344CB8AC3E}">
        <p14:creationId xmlns:p14="http://schemas.microsoft.com/office/powerpoint/2010/main" val="97487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53B0-BBE2-4909-916A-EE6A93C1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String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EF66-3CB5-4C42-80F4-2C5E87682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2400" dirty="0"/>
          </a:p>
          <a:p>
            <a:pPr rtl="0"/>
            <a:r>
              <a:rPr lang="en-US" sz="2400" dirty="0"/>
              <a:t>s = "hello"</a:t>
            </a:r>
            <a:br>
              <a:rPr lang="en-US" sz="2400" dirty="0"/>
            </a:br>
            <a:r>
              <a:rPr lang="en-US" sz="2400" dirty="0"/>
              <a:t>print(</a:t>
            </a:r>
            <a:r>
              <a:rPr lang="en-US" sz="2400" dirty="0" err="1"/>
              <a:t>s.upper</a:t>
            </a:r>
            <a:r>
              <a:rPr lang="en-US" sz="2400" dirty="0"/>
              <a:t>())</a:t>
            </a:r>
            <a:br>
              <a:rPr lang="en-US" sz="2400" dirty="0"/>
            </a:br>
            <a:r>
              <a:rPr lang="en-US" sz="2400" dirty="0"/>
              <a:t>print(</a:t>
            </a:r>
            <a:r>
              <a:rPr lang="en-US" sz="2400" dirty="0" err="1"/>
              <a:t>s.lower</a:t>
            </a:r>
            <a:r>
              <a:rPr lang="en-US" sz="2400" dirty="0"/>
              <a:t>())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u="sng" dirty="0"/>
              <a:t>Output:</a:t>
            </a:r>
          </a:p>
          <a:p>
            <a:r>
              <a:rPr lang="en-IN" sz="2400" dirty="0"/>
              <a:t>HELLO</a:t>
            </a:r>
          </a:p>
          <a:p>
            <a:r>
              <a:rPr lang="en-IN" sz="2400" dirty="0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824054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09F9-B371-4D0A-A47A-DDD872B4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Math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99091-3AE3-430B-9173-6C5832E34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import math</a:t>
            </a:r>
            <a:br>
              <a:rPr lang="en-IN" sz="2400" dirty="0"/>
            </a:br>
            <a:r>
              <a:rPr lang="en-IN" sz="2400" dirty="0"/>
              <a:t>print(</a:t>
            </a:r>
            <a:r>
              <a:rPr lang="en-IN" sz="2400" dirty="0" err="1"/>
              <a:t>math.sqrt</a:t>
            </a:r>
            <a:r>
              <a:rPr lang="en-IN" sz="2400" dirty="0"/>
              <a:t>(16))</a:t>
            </a:r>
          </a:p>
          <a:p>
            <a:endParaRPr lang="en-IN" sz="2400" dirty="0"/>
          </a:p>
          <a:p>
            <a:r>
              <a:rPr lang="en-IN" sz="2400" u="sng" dirty="0"/>
              <a:t>Output:</a:t>
            </a:r>
          </a:p>
          <a:p>
            <a:endParaRPr lang="en-IN" sz="2400" dirty="0"/>
          </a:p>
          <a:p>
            <a:r>
              <a:rPr lang="en-IN" sz="2400" dirty="0"/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2255439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67C6-EA19-4948-9451-AB5A2010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&amp;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E3D9-58D1-4FA9-9311-3BCBDA006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import datetime</a:t>
            </a:r>
            <a:br>
              <a:rPr lang="en-IN" sz="2400" dirty="0"/>
            </a:br>
            <a:r>
              <a:rPr lang="en-IN" sz="2400" dirty="0"/>
              <a:t>print(</a:t>
            </a:r>
            <a:r>
              <a:rPr lang="en-IN" sz="2400" dirty="0" err="1"/>
              <a:t>datetime.datetime.now</a:t>
            </a:r>
            <a:r>
              <a:rPr lang="en-IN" sz="2400" dirty="0"/>
              <a:t>())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Output:</a:t>
            </a:r>
          </a:p>
          <a:p>
            <a:pPr marL="0" indent="0">
              <a:buNone/>
            </a:pPr>
            <a:r>
              <a:rPr lang="en-IN" sz="2400" dirty="0"/>
              <a:t>2026-04-28 16:20:22.365904</a:t>
            </a:r>
          </a:p>
        </p:txBody>
      </p:sp>
    </p:spTree>
    <p:extLst>
      <p:ext uri="{BB962C8B-B14F-4D97-AF65-F5344CB8AC3E}">
        <p14:creationId xmlns:p14="http://schemas.microsoft.com/office/powerpoint/2010/main" val="1768227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5C7A-5133-4FFF-BD8C-4139B6F1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F929-1BE0-4CC4-95AD-1E173ACA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import re</a:t>
            </a:r>
            <a:br>
              <a:rPr lang="en-US" sz="2400" dirty="0"/>
            </a:br>
            <a:r>
              <a:rPr lang="en-US" sz="2400" dirty="0"/>
              <a:t>pattern = "a"</a:t>
            </a:r>
            <a:br>
              <a:rPr lang="en-US" sz="2400" dirty="0"/>
            </a:br>
            <a:r>
              <a:rPr lang="en-US" sz="2400" dirty="0"/>
              <a:t>print(</a:t>
            </a:r>
            <a:r>
              <a:rPr lang="en-US" sz="2400" dirty="0" err="1"/>
              <a:t>re.findall</a:t>
            </a:r>
            <a:r>
              <a:rPr lang="en-US" sz="2400" dirty="0"/>
              <a:t>(pattern, "apple"))</a:t>
            </a:r>
          </a:p>
          <a:p>
            <a:endParaRPr lang="en-US" sz="2400" dirty="0"/>
          </a:p>
          <a:p>
            <a:r>
              <a:rPr lang="en-US" sz="2400" dirty="0"/>
              <a:t>Output:</a:t>
            </a:r>
          </a:p>
          <a:p>
            <a:r>
              <a:rPr lang="en-IN" sz="2400" dirty="0"/>
              <a:t>['a']</a:t>
            </a:r>
          </a:p>
        </p:txBody>
      </p:sp>
    </p:spTree>
    <p:extLst>
      <p:ext uri="{BB962C8B-B14F-4D97-AF65-F5344CB8AC3E}">
        <p14:creationId xmlns:p14="http://schemas.microsoft.com/office/powerpoint/2010/main" val="628140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EF49-B191-43EB-96A7-63CB2F67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1D3C7-1B13-4631-896E-63B856D18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statistics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statistics.mean</a:t>
            </a:r>
            <a:r>
              <a:rPr lang="en-US" dirty="0"/>
              <a:t>([1,2,3]))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143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12B8-9169-4947-A4D1-3EA5CC9F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corner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3E8F-07D0-45EA-BC7D-0BBE72AC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 1: String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 to uppercase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length </a:t>
            </a:r>
          </a:p>
          <a:p>
            <a:r>
              <a:rPr lang="en-US" b="1" dirty="0"/>
              <a:t>Task 2: Math Operations</a:t>
            </a:r>
          </a:p>
          <a:p>
            <a:r>
              <a:rPr lang="en-US" dirty="0"/>
              <a:t>Find: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Square root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</a:t>
            </a:r>
          </a:p>
          <a:p>
            <a:r>
              <a:rPr lang="en-US" b="1" dirty="0"/>
              <a:t>Task 3: Date Display</a:t>
            </a:r>
          </a:p>
          <a:p>
            <a:r>
              <a:rPr lang="en-US" dirty="0"/>
              <a:t>Print current date &amp; time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12499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3BBB-1BB1-4ACB-8A6E-DA236049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Email Sending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E0A4D-4FEF-45E6-82E5-954DD7D2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send an email, your code follows these four steps: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Connect</a:t>
            </a:r>
            <a:r>
              <a:rPr lang="en-US" dirty="0"/>
              <a:t>: Establish a connection to the email provider's server (e.g., smtp.gmail.com).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Secure</a:t>
            </a:r>
            <a:r>
              <a:rPr lang="en-US" dirty="0"/>
              <a:t>: Start an encrypted connection (TLS) so your password isn't sent in plain text.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Login</a:t>
            </a:r>
            <a:r>
              <a:rPr lang="en-US" dirty="0"/>
              <a:t>: Authenticate using your email address and password.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Send</a:t>
            </a:r>
            <a:r>
              <a:rPr lang="en-US" dirty="0"/>
              <a:t>: Provide the "From" address, "To" address, and the message body.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280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6AC9-6E38-496B-A2D3-9E57898F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and its meaning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7694E-FE4F-4590-954F-0C5C5D558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17579"/>
              </p:ext>
            </p:extLst>
          </p:nvPr>
        </p:nvGraphicFramePr>
        <p:xfrm>
          <a:off x="822325" y="2211705"/>
          <a:ext cx="75438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42547482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13450411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963219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Term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Real-World Comparison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Why Python Needs It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8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SMTP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The Postal Rules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To talk to the mail server.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249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Server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The Post Office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To have a place to drop off the mail.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99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Port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The Service Window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To find the right "department" for mail.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942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SSL/TLS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The </a:t>
                      </a:r>
                      <a:r>
                        <a:rPr lang="en-IN" dirty="0" err="1">
                          <a:effectLst/>
                        </a:rPr>
                        <a:t>Armored</a:t>
                      </a:r>
                      <a:r>
                        <a:rPr lang="en-IN" dirty="0">
                          <a:effectLst/>
                        </a:rPr>
                        <a:t> Truck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To keep your password and message private.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805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App Password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 Special Key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To bypass "Bot" security filters.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0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018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BBE0-322D-4ADC-8CF6-93A75777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Mail servers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DDD769-EC99-4DDC-AADA-2A0099671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281488"/>
              </p:ext>
            </p:extLst>
          </p:nvPr>
        </p:nvGraphicFramePr>
        <p:xfrm>
          <a:off x="822325" y="2407298"/>
          <a:ext cx="7543800" cy="21818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40954155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0814737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78535257"/>
                    </a:ext>
                  </a:extLst>
                </a:gridCol>
              </a:tblGrid>
              <a:tr h="545462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Provider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SMTP Server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Port (SSL)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10606"/>
                  </a:ext>
                </a:extLst>
              </a:tr>
              <a:tr h="545462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Gmail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smtp.gmail.com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465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097037"/>
                  </a:ext>
                </a:extLst>
              </a:tr>
              <a:tr h="545462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Outlook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smtp.office365.com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587 (use starttls())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460794"/>
                  </a:ext>
                </a:extLst>
              </a:tr>
              <a:tr h="545462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Yahoo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smtp.mail.yahoo.com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465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6691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25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91C3C1-B79A-4118-87CD-6B22F80EC0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Functions &amp; Data Structures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47B86F9-5B46-42D6-9A33-E8E8AA33B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Write </a:t>
            </a:r>
            <a:r>
              <a:rPr lang="fr-FR" dirty="0" err="1"/>
              <a:t>reusable</a:t>
            </a:r>
            <a:r>
              <a:rPr lang="fr-FR" dirty="0"/>
              <a:t>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Store collections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543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27ACD-F540-4B13-9D5B-E0C3FE2C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1BBE5-53E9-4A11-BA70-DA0EBA262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def greet():        </a:t>
            </a:r>
            <a:br>
              <a:rPr lang="en-IN" sz="2400" dirty="0"/>
            </a:br>
            <a:r>
              <a:rPr lang="en-IN" sz="2400" dirty="0"/>
              <a:t>	print("Hello")         </a:t>
            </a:r>
          </a:p>
          <a:p>
            <a:r>
              <a:rPr lang="en-IN" sz="2400" dirty="0"/>
              <a:t>greet()</a:t>
            </a:r>
          </a:p>
          <a:p>
            <a:endParaRPr lang="en-IN" sz="2400" dirty="0"/>
          </a:p>
          <a:p>
            <a:r>
              <a:rPr lang="en-IN" sz="2400" dirty="0"/>
              <a:t>Output:</a:t>
            </a:r>
          </a:p>
          <a:p>
            <a:r>
              <a:rPr lang="en-IN" sz="2400" dirty="0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525726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EDEF-5BCD-4119-9110-06DB5E74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21CCA-B33D-4474-8C5C-5FE442DD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>
                <a:solidFill>
                  <a:srgbClr val="FF0000"/>
                </a:solidFill>
              </a:rPr>
              <a:t>add(a, b)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	return a + b</a:t>
            </a:r>
          </a:p>
          <a:p>
            <a:r>
              <a:rPr lang="en-IN" dirty="0"/>
              <a:t>print(</a:t>
            </a:r>
            <a:r>
              <a:rPr lang="en-IN" dirty="0">
                <a:solidFill>
                  <a:srgbClr val="FF0000"/>
                </a:solidFill>
              </a:rPr>
              <a:t>add(10,29)</a:t>
            </a:r>
            <a:r>
              <a:rPr lang="en-IN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273250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C044-6A97-49A3-846F-29DAB9DE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Default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4E75-627D-4855-81C7-7545828B0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add(a, </a:t>
            </a:r>
            <a:r>
              <a:rPr lang="en-US" dirty="0">
                <a:solidFill>
                  <a:srgbClr val="FF0000"/>
                </a:solidFill>
              </a:rPr>
              <a:t>b=5</a:t>
            </a:r>
            <a:r>
              <a:rPr lang="en-US" dirty="0"/>
              <a:t>):</a:t>
            </a:r>
          </a:p>
          <a:p>
            <a:r>
              <a:rPr lang="en-US" dirty="0"/>
              <a:t>    return a + b</a:t>
            </a:r>
          </a:p>
          <a:p>
            <a:r>
              <a:rPr lang="en-US" dirty="0"/>
              <a:t>print(</a:t>
            </a:r>
            <a:r>
              <a:rPr lang="en-US" dirty="0">
                <a:solidFill>
                  <a:srgbClr val="FF0000"/>
                </a:solidFill>
              </a:rPr>
              <a:t>add(10,20)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 add(a, </a:t>
            </a:r>
            <a:r>
              <a:rPr lang="en-US" dirty="0">
                <a:solidFill>
                  <a:srgbClr val="FF0000"/>
                </a:solidFill>
              </a:rPr>
              <a:t>b=5</a:t>
            </a:r>
            <a:r>
              <a:rPr lang="en-US" dirty="0"/>
              <a:t>):</a:t>
            </a:r>
          </a:p>
          <a:p>
            <a:r>
              <a:rPr lang="en-US" dirty="0"/>
              <a:t>    return a + b</a:t>
            </a:r>
          </a:p>
          <a:p>
            <a:r>
              <a:rPr lang="en-US" dirty="0"/>
              <a:t>print(</a:t>
            </a:r>
            <a:r>
              <a:rPr lang="en-US" dirty="0">
                <a:solidFill>
                  <a:srgbClr val="FF0000"/>
                </a:solidFill>
              </a:rPr>
              <a:t>add(10)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249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01BB-2FA3-4BB5-B1CB-5F42408C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4793-2783-478D-86C9-F97F040A7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>
                <a:solidFill>
                  <a:srgbClr val="FF0000"/>
                </a:solidFill>
              </a:rPr>
              <a:t>fact(n)</a:t>
            </a:r>
            <a:r>
              <a:rPr lang="en-US" dirty="0"/>
              <a:t>:</a:t>
            </a:r>
          </a:p>
          <a:p>
            <a:r>
              <a:rPr lang="en-US" dirty="0"/>
              <a:t>    if n == 1:</a:t>
            </a:r>
          </a:p>
          <a:p>
            <a:r>
              <a:rPr lang="en-US" dirty="0"/>
              <a:t>        return 1</a:t>
            </a:r>
          </a:p>
          <a:p>
            <a:r>
              <a:rPr lang="en-US" dirty="0"/>
              <a:t>    return n * </a:t>
            </a:r>
            <a:r>
              <a:rPr lang="en-US" dirty="0">
                <a:solidFill>
                  <a:srgbClr val="FF0000"/>
                </a:solidFill>
              </a:rPr>
              <a:t>fact(n-1)</a:t>
            </a:r>
          </a:p>
          <a:p>
            <a:r>
              <a:rPr lang="en-US" dirty="0"/>
              <a:t>print(fact(5))</a:t>
            </a:r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IN" dirty="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4233493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0522AB-9F6C-495B-B264-455DBD97AB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Arrays / Data Structures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8A14F9-6408-4F25-BA9D-47E03C2E2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6094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8E5A-FECB-467A-AEE4-93B1CEC4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ED02C-0810-4680-943E-4BF87435B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Ordered collection</a:t>
            </a:r>
          </a:p>
          <a:p>
            <a:r>
              <a:rPr lang="en-US" dirty="0"/>
              <a:t>Mutable (can change)</a:t>
            </a:r>
          </a:p>
          <a:p>
            <a:r>
              <a:rPr lang="en-US" dirty="0"/>
              <a:t>Allows duplicates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9755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9B5E-C8A7-4F54-BB3E-EAA08E1628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58820" y="1025169"/>
            <a:ext cx="5117841" cy="40227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numbers = [10, 20, 30, 40]</a:t>
            </a:r>
          </a:p>
          <a:p>
            <a:r>
              <a:rPr lang="en-US" dirty="0"/>
              <a:t>print(numbers[0])   # 10</a:t>
            </a:r>
          </a:p>
          <a:p>
            <a:r>
              <a:rPr lang="en-US" dirty="0"/>
              <a:t>print(numbers[-1])  # 40</a:t>
            </a:r>
          </a:p>
          <a:p>
            <a:r>
              <a:rPr lang="en-US" dirty="0" err="1"/>
              <a:t>numbers.append</a:t>
            </a:r>
            <a:r>
              <a:rPr lang="en-US" dirty="0"/>
              <a:t>(50)       # Add at end</a:t>
            </a:r>
          </a:p>
          <a:p>
            <a:r>
              <a:rPr lang="en-US" dirty="0" err="1"/>
              <a:t>numbers.insert</a:t>
            </a:r>
            <a:r>
              <a:rPr lang="en-US" dirty="0"/>
              <a:t>(1, 15)    # Insert at index</a:t>
            </a:r>
          </a:p>
          <a:p>
            <a:r>
              <a:rPr lang="en-US" dirty="0" err="1"/>
              <a:t>numbers.extend</a:t>
            </a:r>
            <a:r>
              <a:rPr lang="en-US" dirty="0"/>
              <a:t>([60, 70]) # Add multiple</a:t>
            </a:r>
          </a:p>
          <a:p>
            <a:r>
              <a:rPr lang="en-US" dirty="0" err="1"/>
              <a:t>numbers.remove</a:t>
            </a:r>
            <a:r>
              <a:rPr lang="en-US" dirty="0"/>
              <a:t>(30)   # Remove value</a:t>
            </a:r>
          </a:p>
          <a:p>
            <a:r>
              <a:rPr lang="en-US" dirty="0" err="1"/>
              <a:t>numbers.pop</a:t>
            </a:r>
            <a:r>
              <a:rPr lang="en-US" dirty="0"/>
              <a:t>()        # Remove last</a:t>
            </a:r>
          </a:p>
          <a:p>
            <a:r>
              <a:rPr lang="en-US" dirty="0" err="1"/>
              <a:t>numbers.pop</a:t>
            </a:r>
            <a:r>
              <a:rPr lang="en-US" dirty="0"/>
              <a:t>(1)       # Remove index</a:t>
            </a:r>
          </a:p>
          <a:p>
            <a:r>
              <a:rPr lang="en-IN" dirty="0"/>
              <a:t>numbers[0] = 100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1831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06CB-F73A-47E3-BFA1-14FB2D0937F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085392" y="1258435"/>
            <a:ext cx="4520682" cy="4022725"/>
          </a:xfrm>
        </p:spPr>
        <p:txBody>
          <a:bodyPr/>
          <a:lstStyle/>
          <a:p>
            <a:r>
              <a:rPr lang="en-US" dirty="0" err="1"/>
              <a:t>len</a:t>
            </a:r>
            <a:r>
              <a:rPr lang="en-US" dirty="0"/>
              <a:t>(numbers)        # Length</a:t>
            </a:r>
          </a:p>
          <a:p>
            <a:r>
              <a:rPr lang="en-US" dirty="0"/>
              <a:t>max(numbers)        # Maximum</a:t>
            </a:r>
          </a:p>
          <a:p>
            <a:r>
              <a:rPr lang="en-US" dirty="0"/>
              <a:t>min(numbers)        # Minimum</a:t>
            </a:r>
          </a:p>
          <a:p>
            <a:r>
              <a:rPr lang="en-US" dirty="0"/>
              <a:t>sum(numbers)        # Total</a:t>
            </a:r>
          </a:p>
          <a:p>
            <a:r>
              <a:rPr lang="en-US" dirty="0" err="1"/>
              <a:t>numbers.sort</a:t>
            </a:r>
            <a:r>
              <a:rPr lang="en-US" dirty="0"/>
              <a:t>()      # Sort ascending</a:t>
            </a:r>
          </a:p>
          <a:p>
            <a:r>
              <a:rPr lang="en-US" dirty="0" err="1"/>
              <a:t>numbers.reverse</a:t>
            </a:r>
            <a:r>
              <a:rPr lang="en-US" dirty="0"/>
              <a:t>()   # Reverse list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6521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F26D-442B-4C4D-9D85-C3E09457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– read only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19C4F-B7FD-49CD-B59E-650594E19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</a:t>
            </a:r>
          </a:p>
          <a:p>
            <a:r>
              <a:rPr lang="en-US" dirty="0"/>
              <a:t>Immutable (cannot change)</a:t>
            </a:r>
          </a:p>
          <a:p>
            <a:r>
              <a:rPr lang="en-US" dirty="0"/>
              <a:t>Allows duplicates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4351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B39169C-D290-4714-AF97-E79F712F9E32}"/>
              </a:ext>
            </a:extLst>
          </p:cNvPr>
          <p:cNvSpPr txBox="1"/>
          <p:nvPr/>
        </p:nvSpPr>
        <p:spPr>
          <a:xfrm>
            <a:off x="2228335" y="1005574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= (10, 20, 30)</a:t>
            </a:r>
          </a:p>
          <a:p>
            <a:endParaRPr lang="en-IN" dirty="0"/>
          </a:p>
          <a:p>
            <a:r>
              <a:rPr lang="en-IN" dirty="0"/>
              <a:t>print(data[1])  # 20</a:t>
            </a:r>
          </a:p>
          <a:p>
            <a:endParaRPr lang="en-IN" dirty="0"/>
          </a:p>
          <a:p>
            <a:r>
              <a:rPr lang="en-IN" dirty="0"/>
              <a:t># data[0] = 100 ❌ ERROR</a:t>
            </a:r>
          </a:p>
          <a:p>
            <a:endParaRPr lang="en-IN" dirty="0"/>
          </a:p>
          <a:p>
            <a:r>
              <a:rPr lang="en-IN" dirty="0"/>
              <a:t>for x in data:</a:t>
            </a:r>
          </a:p>
          <a:p>
            <a:r>
              <a:rPr lang="en-IN" dirty="0"/>
              <a:t>    print(x)</a:t>
            </a:r>
          </a:p>
          <a:p>
            <a:endParaRPr lang="en-IN" dirty="0"/>
          </a:p>
          <a:p>
            <a:r>
              <a:rPr lang="en-US" dirty="0" err="1"/>
              <a:t>len</a:t>
            </a:r>
            <a:r>
              <a:rPr lang="en-US" dirty="0"/>
              <a:t>(data)</a:t>
            </a:r>
          </a:p>
          <a:p>
            <a:r>
              <a:rPr lang="en-US" dirty="0"/>
              <a:t>max(data)</a:t>
            </a:r>
          </a:p>
          <a:p>
            <a:r>
              <a:rPr lang="en-US" dirty="0"/>
              <a:t>min(data)</a:t>
            </a:r>
          </a:p>
          <a:p>
            <a:r>
              <a:rPr lang="en-US" dirty="0" err="1"/>
              <a:t>data.count</a:t>
            </a:r>
            <a:r>
              <a:rPr lang="en-US" dirty="0"/>
              <a:t>(20)    # Count occurrences</a:t>
            </a:r>
          </a:p>
          <a:p>
            <a:r>
              <a:rPr lang="en-US" dirty="0" err="1"/>
              <a:t>data.index</a:t>
            </a:r>
            <a:r>
              <a:rPr lang="en-US" dirty="0"/>
              <a:t>(30)    # Find 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424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32652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68BE-4CC0-4ED2-BE45-3014F7BA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–unique collection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DD0A05-FFD8-4EA4-9592-763832FC37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Unordered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duplicates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111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08A3D5-2047-40F8-BA51-8B55A35FFC9E}"/>
              </a:ext>
            </a:extLst>
          </p:cNvPr>
          <p:cNvSpPr txBox="1"/>
          <p:nvPr/>
        </p:nvSpPr>
        <p:spPr>
          <a:xfrm>
            <a:off x="2715208" y="147297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items = {1, 2, 3, 3, 4}</a:t>
            </a:r>
          </a:p>
          <a:p>
            <a:r>
              <a:rPr lang="en-US" dirty="0"/>
              <a:t>print(items)  # {1, 2, 3, 4}</a:t>
            </a:r>
          </a:p>
          <a:p>
            <a:endParaRPr lang="en-US" dirty="0"/>
          </a:p>
          <a:p>
            <a:r>
              <a:rPr lang="en-IN" dirty="0" err="1"/>
              <a:t>items.add</a:t>
            </a:r>
            <a:r>
              <a:rPr lang="en-IN" dirty="0"/>
              <a:t>(5)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items.remove</a:t>
            </a:r>
            <a:r>
              <a:rPr lang="en-US" dirty="0"/>
              <a:t>(2)</a:t>
            </a:r>
          </a:p>
          <a:p>
            <a:r>
              <a:rPr lang="en-US" dirty="0" err="1"/>
              <a:t>items.discard</a:t>
            </a:r>
            <a:r>
              <a:rPr lang="en-US" dirty="0"/>
              <a:t>(10)  # Safe (no error)</a:t>
            </a:r>
          </a:p>
          <a:p>
            <a:endParaRPr lang="en-US" dirty="0"/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items:</a:t>
            </a:r>
          </a:p>
          <a:p>
            <a:r>
              <a:rPr lang="en-IN" dirty="0"/>
              <a:t>    print(</a:t>
            </a:r>
            <a:r>
              <a:rPr lang="en-IN" dirty="0" err="1"/>
              <a:t>i</a:t>
            </a:r>
            <a:r>
              <a:rPr lang="en-IN" dirty="0"/>
              <a:t>)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528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E519A5-3A55-4E17-BA30-E24610CE0C4D}"/>
              </a:ext>
            </a:extLst>
          </p:cNvPr>
          <p:cNvSpPr txBox="1"/>
          <p:nvPr/>
        </p:nvSpPr>
        <p:spPr>
          <a:xfrm>
            <a:off x="2116956" y="1259175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= {1, 2, 3}</a:t>
            </a:r>
          </a:p>
          <a:p>
            <a:r>
              <a:rPr lang="en-IN" dirty="0"/>
              <a:t>b = {3, 4, 5}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a.union</a:t>
            </a:r>
            <a:r>
              <a:rPr lang="en-IN" dirty="0"/>
              <a:t>(b))   # {1,2,3,4,5}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a.intersection</a:t>
            </a:r>
            <a:r>
              <a:rPr lang="en-IN" dirty="0"/>
              <a:t>(b))  # {3}</a:t>
            </a:r>
          </a:p>
          <a:p>
            <a:endParaRPr lang="en-IN" dirty="0"/>
          </a:p>
          <a:p>
            <a:r>
              <a:rPr lang="en-US" dirty="0"/>
              <a:t>print(</a:t>
            </a:r>
            <a:r>
              <a:rPr lang="en-US" dirty="0" err="1"/>
              <a:t>a.difference</a:t>
            </a:r>
            <a:r>
              <a:rPr lang="en-US" dirty="0"/>
              <a:t>(b))  # {1,2}</a:t>
            </a:r>
            <a:endParaRPr lang="en-IN" dirty="0"/>
          </a:p>
          <a:p>
            <a:endParaRPr lang="en-IN" dirty="0"/>
          </a:p>
          <a:p>
            <a:r>
              <a:rPr lang="en-US" dirty="0"/>
              <a:t>students = {"Ram", "Sam", "Ram"}</a:t>
            </a:r>
          </a:p>
          <a:p>
            <a:r>
              <a:rPr lang="en-US" dirty="0"/>
              <a:t>print(students)  # duplicates removed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6399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FD3F-3722-4023-BEA8-DF9A96AE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corner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99A62-1B44-4230-873E-CA157C4BD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 1: Function Add</a:t>
            </a:r>
          </a:p>
          <a:p>
            <a:r>
              <a:rPr lang="en-US" dirty="0"/>
              <a:t>Create function to add two numbers</a:t>
            </a:r>
          </a:p>
          <a:p>
            <a:r>
              <a:rPr lang="en-US" b="1" dirty="0"/>
              <a:t>Task 2: Factorial using recursion</a:t>
            </a:r>
          </a:p>
          <a:p>
            <a:r>
              <a:rPr lang="en-US" b="1" dirty="0"/>
              <a:t>Task 3: List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elements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 element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 list 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303672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B88EB3-FFB3-4AFB-A686-41B630937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OOP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2B7DD50-5405-4036-B8A4-8C84D29FE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classes and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3043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0E6A-9D99-41F6-87E0-31F68E0E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73DB7-D90E-4F05-847F-E9B7BA2D7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is like an object constructor, or a "blueprint" for creating objects.</a:t>
            </a:r>
          </a:p>
          <a:p>
            <a:r>
              <a:rPr lang="en-US" dirty="0"/>
              <a:t>To create class use </a:t>
            </a:r>
            <a:r>
              <a:rPr lang="en-US" dirty="0">
                <a:solidFill>
                  <a:srgbClr val="FF0000"/>
                </a:solidFill>
              </a:rPr>
              <a:t>class </a:t>
            </a:r>
            <a:r>
              <a:rPr lang="en-US" dirty="0"/>
              <a:t>keyword: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class Student:   </a:t>
            </a:r>
          </a:p>
          <a:p>
            <a:pPr marL="201168" lvl="1" indent="0">
              <a:buNone/>
            </a:pPr>
            <a:r>
              <a:rPr lang="en-US" dirty="0"/>
              <a:t>	def __</a:t>
            </a:r>
            <a:r>
              <a:rPr lang="en-US" dirty="0" err="1"/>
              <a:t>init</a:t>
            </a:r>
            <a:r>
              <a:rPr lang="en-US" dirty="0"/>
              <a:t>__(self, name):        </a:t>
            </a:r>
          </a:p>
          <a:p>
            <a:pPr marL="201168" lvl="1" indent="0">
              <a:buNone/>
            </a:pPr>
            <a:r>
              <a:rPr lang="en-US" dirty="0"/>
              <a:t>		self.name =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2883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FE46-FAB4-4406-942E-5E8DAC74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9E20-703A-49BF-A103-62DCCC310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x = 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endParaRPr lang="en-IN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p1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p2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p3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(p1.x)</a:t>
            </a:r>
            <a:br>
              <a:rPr lang="en-IN" dirty="0"/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(p2.x)</a:t>
            </a:r>
            <a:br>
              <a:rPr lang="en-IN" dirty="0"/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(p3.x)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5956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77D5-280D-4463-9307-029BF22F2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__</a:t>
            </a:r>
            <a:r>
              <a:rPr lang="en-IN" dirty="0" err="1"/>
              <a:t>init</a:t>
            </a:r>
            <a:r>
              <a:rPr lang="en-IN" dirty="0"/>
              <a:t>__()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2C145-439F-466D-A2E5-F7761EA3F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classes have a built-in method called </a:t>
            </a:r>
            <a:r>
              <a:rPr lang="en-US" dirty="0">
                <a:solidFill>
                  <a:srgbClr val="FF0000"/>
                </a:solidFill>
              </a:rPr>
              <a:t>__</a:t>
            </a:r>
            <a:r>
              <a:rPr lang="en-US" dirty="0" err="1">
                <a:solidFill>
                  <a:srgbClr val="FF0000"/>
                </a:solidFill>
              </a:rPr>
              <a:t>init</a:t>
            </a:r>
            <a:r>
              <a:rPr lang="en-US" dirty="0">
                <a:solidFill>
                  <a:srgbClr val="FF0000"/>
                </a:solidFill>
              </a:rPr>
              <a:t>__()</a:t>
            </a:r>
            <a:r>
              <a:rPr lang="en-US" dirty="0"/>
              <a:t>, which is always executed when the class is being initiated.</a:t>
            </a:r>
          </a:p>
          <a:p>
            <a:endParaRPr lang="en-US" dirty="0"/>
          </a:p>
          <a:p>
            <a:r>
              <a:rPr lang="en-US" dirty="0"/>
              <a:t>The __</a:t>
            </a:r>
            <a:r>
              <a:rPr lang="en-US" dirty="0" err="1"/>
              <a:t>init</a:t>
            </a:r>
            <a:r>
              <a:rPr lang="en-US" dirty="0"/>
              <a:t>__() method is used to </a:t>
            </a:r>
            <a:r>
              <a:rPr lang="en-US" dirty="0">
                <a:solidFill>
                  <a:srgbClr val="FF0000"/>
                </a:solidFill>
              </a:rPr>
              <a:t>assign values to object properties</a:t>
            </a:r>
            <a:r>
              <a:rPr lang="en-US" dirty="0"/>
              <a:t>, or to </a:t>
            </a:r>
            <a:r>
              <a:rPr lang="en-US" dirty="0">
                <a:solidFill>
                  <a:srgbClr val="FF0000"/>
                </a:solidFill>
              </a:rPr>
              <a:t>perform operations </a:t>
            </a:r>
            <a:r>
              <a:rPr lang="en-US" dirty="0"/>
              <a:t>that are necessary when the object is being created.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9332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91DE0-1179-4FBD-8665-FBDA14CA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15077-2FD2-40EB-B963-2F98F81BB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Car: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</a:t>
            </a:r>
            <a:r>
              <a:rPr lang="en-IN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brand, model):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self.brand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brand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self.model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model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move(self):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"Drive!"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Boat: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</a:t>
            </a:r>
            <a:r>
              <a:rPr lang="en-IN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brand, model):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self.brand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brand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self.model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model</a:t>
            </a:r>
            <a:br>
              <a:rPr lang="en-IN" sz="1800" dirty="0"/>
            </a:b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move(self):</a:t>
            </a:r>
            <a:br>
              <a:rPr lang="en-IN" sz="1800" dirty="0"/>
            </a:b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"Sail!"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388937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52340-B99C-4557-8CEA-C6F292C0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AD444-A5D5-42AD-969E-EF31A6D91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self.firstname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self.lastname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lname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(self):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print(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self.firstname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self.lastname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dirty="0"/>
            </a:br>
            <a:b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Student(Person):</a:t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pass</a:t>
            </a:r>
          </a:p>
          <a:p>
            <a:pPr marL="0" indent="0">
              <a:buNone/>
            </a:pP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Student(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"Mike"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"Olsen"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dirty="0"/>
            </a:br>
            <a:r>
              <a:rPr lang="en-IN" dirty="0"/>
              <a:t>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x.printname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IN" dirty="0">
              <a:solidFill>
                <a:srgbClr val="005CC5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6498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9BE8-A53F-4E60-818F-DFA848C9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 (Same Class)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6A7F6-C800-424A-A4A3-BB88F12A8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Writing multiple versions of the same function with different arguments in the same class.</a:t>
            </a:r>
          </a:p>
          <a:p>
            <a:pPr marL="0" indent="0">
              <a:buNone/>
            </a:pPr>
            <a:r>
              <a:rPr lang="en-US" dirty="0"/>
              <a:t>To "overload" in Python, we use default arguments.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class Calculator: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# We use default values (None) to handle different amounts of data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def add(self, a, b, c = 0):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return a + b + c</a:t>
            </a:r>
          </a:p>
          <a:p>
            <a:pPr marL="0" indent="0"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obj = Calculator()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print(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obj.add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(5, 10))      # Works with 2 numbers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print(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obj.add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(5, 10, 20))  # Works with 3 numbers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9329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6422-8CDD-4DCC-B266-D2CED5F7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Overriding (Parent vs. Child)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960E5-1AF2-4019-AC8A-DCF46B88D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Child class changes or replaces a function that it inherited from a Parent class.</a:t>
            </a:r>
          </a:p>
          <a:p>
            <a:pPr marL="0" indent="0">
              <a:buNone/>
            </a:pPr>
            <a:r>
              <a:rPr lang="en-US" dirty="0"/>
              <a:t>This is very common in OOP. The child "overrides" the parent's instructions with its own.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42733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51F658-77C5-4467-83CE-3B1342199AB3}"/>
              </a:ext>
            </a:extLst>
          </p:cNvPr>
          <p:cNvSpPr txBox="1"/>
          <p:nvPr/>
        </p:nvSpPr>
        <p:spPr>
          <a:xfrm>
            <a:off x="1782146" y="1291632"/>
            <a:ext cx="60648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class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Animal</a:t>
            </a:r>
            <a:r>
              <a:rPr lang="en-IN" sz="2400" dirty="0"/>
              <a:t>:</a:t>
            </a:r>
          </a:p>
          <a:p>
            <a:r>
              <a:rPr lang="en-IN" sz="2400" dirty="0"/>
              <a:t>    def speak(self):</a:t>
            </a:r>
          </a:p>
          <a:p>
            <a:r>
              <a:rPr lang="en-IN" sz="2400" dirty="0"/>
              <a:t>        print("Animal makes a sound")</a:t>
            </a:r>
          </a:p>
          <a:p>
            <a:endParaRPr lang="en-IN" sz="2400" dirty="0"/>
          </a:p>
          <a:p>
            <a:r>
              <a:rPr lang="en-IN" sz="2400" dirty="0"/>
              <a:t>class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Dog(Animal</a:t>
            </a:r>
            <a:r>
              <a:rPr lang="en-IN" sz="2400" dirty="0"/>
              <a:t>):</a:t>
            </a:r>
          </a:p>
          <a:p>
            <a:r>
              <a:rPr lang="en-IN" sz="2400" dirty="0"/>
              <a:t>    # This overrides the Parent's speak method</a:t>
            </a:r>
          </a:p>
          <a:p>
            <a:r>
              <a:rPr lang="en-IN" sz="2400" dirty="0"/>
              <a:t>    def speak(self):</a:t>
            </a:r>
          </a:p>
          <a:p>
            <a:r>
              <a:rPr lang="en-IN" sz="2400" dirty="0"/>
              <a:t>        print("Dog barks")</a:t>
            </a:r>
          </a:p>
          <a:p>
            <a:endParaRPr lang="en-IN" sz="2400" dirty="0"/>
          </a:p>
          <a:p>
            <a:r>
              <a:rPr lang="en-IN" sz="2400" dirty="0" err="1"/>
              <a:t>my_dog</a:t>
            </a:r>
            <a:r>
              <a:rPr lang="en-IN" sz="2400" dirty="0"/>
              <a:t> = Dog()</a:t>
            </a:r>
          </a:p>
          <a:p>
            <a:r>
              <a:rPr lang="en-IN" sz="2400" dirty="0" err="1"/>
              <a:t>my_dog.speak</a:t>
            </a:r>
            <a:r>
              <a:rPr lang="en-IN" sz="2400" dirty="0"/>
              <a:t>() # Output: Dog barks (Parent's version is ignored)</a:t>
            </a:r>
          </a:p>
        </p:txBody>
      </p:sp>
    </p:spTree>
    <p:extLst>
      <p:ext uri="{BB962C8B-B14F-4D97-AF65-F5344CB8AC3E}">
        <p14:creationId xmlns:p14="http://schemas.microsoft.com/office/powerpoint/2010/main" val="40669333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F320-AEE7-4EC7-972B-A9AD4232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23D549-ED06-4A9F-BBDD-85E6304DC5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704353"/>
              </p:ext>
            </p:extLst>
          </p:nvPr>
        </p:nvGraphicFramePr>
        <p:xfrm>
          <a:off x="822325" y="2440305"/>
          <a:ext cx="7543800" cy="28346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24171990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6417379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716159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Method Overloading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Method Overriding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4511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Where?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Inside the </a:t>
                      </a:r>
                      <a:r>
                        <a:rPr lang="en-IN" b="1" dirty="0"/>
                        <a:t>same</a:t>
                      </a:r>
                      <a:r>
                        <a:rPr lang="en-IN" dirty="0"/>
                        <a:t> class.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Between </a:t>
                      </a:r>
                      <a:r>
                        <a:rPr lang="en-US" b="1"/>
                        <a:t>Parent</a:t>
                      </a:r>
                      <a:r>
                        <a:rPr lang="en-US"/>
                        <a:t> and </a:t>
                      </a:r>
                      <a:r>
                        <a:rPr lang="en-US" b="1"/>
                        <a:t>Child</a:t>
                      </a:r>
                      <a:r>
                        <a:rPr lang="en-US"/>
                        <a:t> classes.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868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handle different types/numbers of inputs.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change how a specific action works for a child.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967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Requirement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default arguments in Python.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Inheritance (Parent/Child relationship).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2392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2347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5ED6-D64A-4574-BF10-36A479B9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corner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6355-FD64-411C-BB07-AE2C8B501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 1: Class</a:t>
            </a:r>
          </a:p>
          <a:p>
            <a:r>
              <a:rPr lang="en-US" dirty="0"/>
              <a:t>Create Student class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marks </a:t>
            </a:r>
          </a:p>
          <a:p>
            <a:r>
              <a:rPr lang="en-US" b="1" dirty="0"/>
              <a:t>Task 2: File Write</a:t>
            </a:r>
          </a:p>
          <a:p>
            <a:r>
              <a:rPr lang="en-US" dirty="0"/>
              <a:t>Write data into file</a:t>
            </a:r>
          </a:p>
          <a:p>
            <a:r>
              <a:rPr lang="en-US" b="1" dirty="0"/>
              <a:t>Task 3: File Read</a:t>
            </a:r>
          </a:p>
          <a:p>
            <a:r>
              <a:rPr lang="en-US" dirty="0"/>
              <a:t>Read file content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7797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9C7AB9-D5A2-4750-8931-F20217E4D5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Modules and Packages 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992C65-214E-4AC5-A229-F4F7090E1A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Modules</a:t>
            </a:r>
            <a:r>
              <a:rPr lang="en-US" dirty="0"/>
              <a:t> are the individual books, and </a:t>
            </a:r>
            <a:r>
              <a:rPr lang="en-US" b="1" dirty="0"/>
              <a:t>Packages</a:t>
            </a:r>
            <a:r>
              <a:rPr lang="en-US" dirty="0"/>
              <a:t> are the shelves (folders) that hold related books together.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50936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CE04C2-AD05-440F-A0D8-F2E63C7F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96963"/>
          </a:xfrm>
        </p:spPr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01E4FA-9B45-4FC8-AB49-4CD1CC4AE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1. Create a Module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8958E8-6835-4368-B0D6-AC0CC1B4F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582334"/>
            <a:ext cx="3703320" cy="3378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# </a:t>
            </a:r>
            <a:r>
              <a:rPr lang="en-US" dirty="0">
                <a:solidFill>
                  <a:srgbClr val="FF0000"/>
                </a:solidFill>
              </a:rPr>
              <a:t>calculator.py</a:t>
            </a:r>
          </a:p>
          <a:p>
            <a:r>
              <a:rPr lang="en-US" dirty="0"/>
              <a:t>def add(a, b):</a:t>
            </a:r>
          </a:p>
          <a:p>
            <a:r>
              <a:rPr lang="en-US" dirty="0"/>
              <a:t>    return a + b</a:t>
            </a:r>
          </a:p>
          <a:p>
            <a:endParaRPr lang="en-US" dirty="0"/>
          </a:p>
          <a:p>
            <a:r>
              <a:rPr lang="en-US" dirty="0"/>
              <a:t>def multiply(a, b):</a:t>
            </a:r>
          </a:p>
          <a:p>
            <a:r>
              <a:rPr lang="en-US" dirty="0"/>
              <a:t>    return a * b</a:t>
            </a:r>
          </a:p>
          <a:p>
            <a:endParaRPr lang="en-US" dirty="0"/>
          </a:p>
          <a:p>
            <a:r>
              <a:rPr lang="en-US" dirty="0"/>
              <a:t>brand = "</a:t>
            </a:r>
            <a:r>
              <a:rPr lang="en-US" dirty="0" err="1"/>
              <a:t>PyCalc</a:t>
            </a:r>
            <a:r>
              <a:rPr lang="en-US" dirty="0"/>
              <a:t>"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A837063-51EB-431E-966D-363FE1882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2. Use a Module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B320C35-7782-4021-A107-4EFCD643A61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# main.py</a:t>
            </a:r>
          </a:p>
          <a:p>
            <a:r>
              <a:rPr lang="en-IN" dirty="0"/>
              <a:t>import </a:t>
            </a:r>
            <a:r>
              <a:rPr lang="en-IN" dirty="0">
                <a:solidFill>
                  <a:srgbClr val="FF0000"/>
                </a:solidFill>
              </a:rPr>
              <a:t>calculator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calculator.add</a:t>
            </a:r>
            <a:r>
              <a:rPr lang="en-IN" dirty="0"/>
              <a:t>(10, 5))      # Output: 15</a:t>
            </a:r>
          </a:p>
          <a:p>
            <a:r>
              <a:rPr lang="en-IN" dirty="0"/>
              <a:t>print(</a:t>
            </a:r>
            <a:r>
              <a:rPr lang="en-IN" dirty="0" err="1"/>
              <a:t>calculator.brand</a:t>
            </a:r>
            <a:r>
              <a:rPr lang="en-IN" dirty="0"/>
              <a:t>)        # Output: </a:t>
            </a:r>
            <a:r>
              <a:rPr lang="en-IN" dirty="0" err="1"/>
              <a:t>PyCalc</a:t>
            </a:r>
            <a:endParaRPr lang="en-IN" dirty="0"/>
          </a:p>
          <a:p>
            <a:endParaRPr lang="en-IN" dirty="0"/>
          </a:p>
          <a:p>
            <a:r>
              <a:rPr lang="en-IN" dirty="0"/>
              <a:t># Or import specific items</a:t>
            </a:r>
          </a:p>
          <a:p>
            <a:r>
              <a:rPr lang="en-IN" dirty="0"/>
              <a:t>from </a:t>
            </a:r>
            <a:r>
              <a:rPr lang="en-IN" dirty="0">
                <a:solidFill>
                  <a:srgbClr val="FF0000"/>
                </a:solidFill>
              </a:rPr>
              <a:t>calculator</a:t>
            </a:r>
            <a:r>
              <a:rPr lang="en-IN" dirty="0"/>
              <a:t> </a:t>
            </a:r>
            <a:r>
              <a:rPr lang="en-IN" b="1" dirty="0"/>
              <a:t>import multiply</a:t>
            </a:r>
          </a:p>
          <a:p>
            <a:r>
              <a:rPr lang="en-IN" dirty="0"/>
              <a:t>print(multiply(4, 3))             # Output: 12</a:t>
            </a:r>
          </a:p>
        </p:txBody>
      </p:sp>
    </p:spTree>
    <p:extLst>
      <p:ext uri="{BB962C8B-B14F-4D97-AF65-F5344CB8AC3E}">
        <p14:creationId xmlns:p14="http://schemas.microsoft.com/office/powerpoint/2010/main" val="24375405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7D1B-7C98-43BE-B807-8A53F534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FAE60-6206-496C-8EFC-F93DDD0E4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The Structure</a:t>
            </a:r>
          </a:p>
          <a:p>
            <a:r>
              <a:rPr lang="en-US" dirty="0"/>
              <a:t>To make a directory a "package," you need a folder with your scripts and a special file called </a:t>
            </a:r>
            <a:r>
              <a:rPr lang="en-US" dirty="0">
                <a:solidFill>
                  <a:srgbClr val="FF0000"/>
                </a:solidFill>
              </a:rPr>
              <a:t>__init__.py</a:t>
            </a:r>
            <a:r>
              <a:rPr lang="en-US" dirty="0"/>
              <a:t>.</a:t>
            </a:r>
          </a:p>
          <a:p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Package_example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/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│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├── main.py             # Your actual program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└── calculator/         # The package folder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   ├── __init__.py     # Marks this folder as a package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   └── operations.py   # A module with functions</a:t>
            </a:r>
          </a:p>
        </p:txBody>
      </p:sp>
    </p:spTree>
    <p:extLst>
      <p:ext uri="{BB962C8B-B14F-4D97-AF65-F5344CB8AC3E}">
        <p14:creationId xmlns:p14="http://schemas.microsoft.com/office/powerpoint/2010/main" val="26112581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26D5-013C-40FD-9E33-2F696578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BEB0-9EF6-490C-8778-ECB132D67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calculator/operations.py</a:t>
            </a:r>
          </a:p>
          <a:p>
            <a:endParaRPr lang="en-IN" dirty="0"/>
          </a:p>
          <a:p>
            <a:r>
              <a:rPr lang="en-US" dirty="0"/>
              <a:t>def add(a, b):</a:t>
            </a:r>
          </a:p>
          <a:p>
            <a:r>
              <a:rPr lang="en-US" dirty="0"/>
              <a:t>    return a + b</a:t>
            </a:r>
          </a:p>
          <a:p>
            <a:endParaRPr lang="en-US" dirty="0"/>
          </a:p>
          <a:p>
            <a:r>
              <a:rPr lang="en-US" dirty="0"/>
              <a:t>def multiply(a, b):</a:t>
            </a:r>
          </a:p>
          <a:p>
            <a:r>
              <a:rPr lang="en-US" dirty="0"/>
              <a:t>    return a * 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5529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51BC-A346-4B00-AB24-A9005D34300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72412" y="969186"/>
            <a:ext cx="7543800" cy="4022725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calculator/__init__.py</a:t>
            </a:r>
          </a:p>
          <a:p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from .operations import add, multiply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- You can leave this file empty, and Python will still treat the folder as a package. However, adding imports here makes your package cleaner to use.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2853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A506-02C2-4CE9-AAC9-FE02C327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of package inside Program        </a:t>
            </a:r>
            <a:r>
              <a:rPr lang="en-IN" i="1" dirty="0">
                <a:solidFill>
                  <a:schemeClr val="tx1"/>
                </a:solidFill>
              </a:rPr>
              <a:t>main.py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3DBE7-B1FD-4D22-B02A-7A66EEA21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# Option 1: Import everything via the package (thanks to __init__.py)</a:t>
            </a:r>
          </a:p>
          <a:p>
            <a:r>
              <a:rPr lang="en-IN" dirty="0"/>
              <a:t>from c</a:t>
            </a:r>
            <a:r>
              <a:rPr lang="en-IN" dirty="0">
                <a:solidFill>
                  <a:srgbClr val="FF0000"/>
                </a:solidFill>
              </a:rPr>
              <a:t>alculator</a:t>
            </a:r>
            <a:r>
              <a:rPr lang="en-IN" dirty="0"/>
              <a:t> import </a:t>
            </a:r>
            <a:r>
              <a:rPr lang="en-IN" dirty="0">
                <a:solidFill>
                  <a:srgbClr val="FF0000"/>
                </a:solidFill>
              </a:rPr>
              <a:t>add, multiply</a:t>
            </a:r>
          </a:p>
          <a:p>
            <a:endParaRPr lang="en-IN" dirty="0"/>
          </a:p>
          <a:p>
            <a:r>
              <a:rPr lang="en-IN" dirty="0"/>
              <a:t>print(add(5, 3))       # Output: 8</a:t>
            </a:r>
          </a:p>
          <a:p>
            <a:r>
              <a:rPr lang="en-IN" dirty="0"/>
              <a:t>print(multiply(10, 2)) # Output: 20</a:t>
            </a:r>
          </a:p>
          <a:p>
            <a:endParaRPr lang="en-IN" dirty="0"/>
          </a:p>
          <a:p>
            <a:r>
              <a:rPr lang="en-IN" dirty="0"/>
              <a:t># Option 2: Import the specific module</a:t>
            </a:r>
          </a:p>
          <a:p>
            <a:r>
              <a:rPr lang="en-IN" dirty="0"/>
              <a:t>from </a:t>
            </a:r>
            <a:r>
              <a:rPr lang="en-IN" dirty="0">
                <a:solidFill>
                  <a:srgbClr val="FF0000"/>
                </a:solidFill>
              </a:rPr>
              <a:t>calculator</a:t>
            </a:r>
            <a:r>
              <a:rPr lang="en-IN" dirty="0"/>
              <a:t> import </a:t>
            </a:r>
            <a:r>
              <a:rPr lang="en-IN" dirty="0">
                <a:solidFill>
                  <a:srgbClr val="FF0000"/>
                </a:solidFill>
              </a:rPr>
              <a:t>operations</a:t>
            </a:r>
          </a:p>
          <a:p>
            <a:endParaRPr lang="en-IN" dirty="0"/>
          </a:p>
          <a:p>
            <a:r>
              <a:rPr lang="en-IN" dirty="0"/>
              <a:t>result = </a:t>
            </a:r>
            <a:r>
              <a:rPr lang="en-IN" dirty="0" err="1"/>
              <a:t>operations.add</a:t>
            </a:r>
            <a:r>
              <a:rPr lang="en-IN" dirty="0"/>
              <a:t>(10, 10)</a:t>
            </a:r>
          </a:p>
          <a:p>
            <a:r>
              <a:rPr lang="en-IN" dirty="0"/>
              <a:t>print(result)          # Output: 20</a:t>
            </a:r>
          </a:p>
        </p:txBody>
      </p:sp>
    </p:spTree>
    <p:extLst>
      <p:ext uri="{BB962C8B-B14F-4D97-AF65-F5344CB8AC3E}">
        <p14:creationId xmlns:p14="http://schemas.microsoft.com/office/powerpoint/2010/main" val="11191800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E9A4-7A1D-4F2C-B4E6-0FAE813C7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908C-D6A0-4FAD-B66E-8F522E706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handling in Python allows you to </a:t>
            </a:r>
            <a:r>
              <a:rPr lang="en-US" b="1" dirty="0"/>
              <a:t>create, read, update, and delete </a:t>
            </a:r>
            <a:r>
              <a:rPr lang="en-US" dirty="0"/>
              <a:t>files directly through your code. </a:t>
            </a:r>
          </a:p>
          <a:p>
            <a:r>
              <a:rPr lang="en-US" dirty="0"/>
              <a:t>The most recommended way to handle files is using the </a:t>
            </a:r>
            <a:r>
              <a:rPr lang="en-US" b="1" dirty="0"/>
              <a:t>with statement</a:t>
            </a:r>
            <a:r>
              <a:rPr lang="en-US" dirty="0"/>
              <a:t>, as it automatically closes the file even if an error occurs, preventing resource leaks.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4292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9ACC-297E-4AD1-AB88-16CC3047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Core Function: open()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C7412-0A1A-4A45-B722-91DACC190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takes two primary arguments: the file name and the mode.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76AEBB-3D86-4897-A3D0-D7204992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57224"/>
              </p:ext>
            </p:extLst>
          </p:nvPr>
        </p:nvGraphicFramePr>
        <p:xfrm>
          <a:off x="872395" y="2424167"/>
          <a:ext cx="7448646" cy="35721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82882">
                  <a:extLst>
                    <a:ext uri="{9D8B030D-6E8A-4147-A177-3AD203B41FA5}">
                      <a16:colId xmlns:a16="http://schemas.microsoft.com/office/drawing/2014/main" val="3705457234"/>
                    </a:ext>
                  </a:extLst>
                </a:gridCol>
                <a:gridCol w="2482882">
                  <a:extLst>
                    <a:ext uri="{9D8B030D-6E8A-4147-A177-3AD203B41FA5}">
                      <a16:colId xmlns:a16="http://schemas.microsoft.com/office/drawing/2014/main" val="404903736"/>
                    </a:ext>
                  </a:extLst>
                </a:gridCol>
                <a:gridCol w="2482882">
                  <a:extLst>
                    <a:ext uri="{9D8B030D-6E8A-4147-A177-3AD203B41FA5}">
                      <a16:colId xmlns:a16="http://schemas.microsoft.com/office/drawing/2014/main" val="1276624696"/>
                    </a:ext>
                  </a:extLst>
                </a:gridCol>
              </a:tblGrid>
              <a:tr h="242568">
                <a:tc>
                  <a:txBody>
                    <a:bodyPr/>
                    <a:lstStyle/>
                    <a:p>
                      <a:r>
                        <a:rPr lang="en-IN" sz="1600"/>
                        <a:t>Mode</a:t>
                      </a:r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Name</a:t>
                      </a:r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Description</a:t>
                      </a:r>
                    </a:p>
                  </a:txBody>
                  <a:tcPr marL="80454" marR="80454" marT="40227" marB="40227" anchor="ctr"/>
                </a:tc>
                <a:extLst>
                  <a:ext uri="{0D108BD9-81ED-4DB2-BD59-A6C34878D82A}">
                    <a16:rowId xmlns:a16="http://schemas.microsoft.com/office/drawing/2014/main" val="3947996602"/>
                  </a:ext>
                </a:extLst>
              </a:tr>
              <a:tr h="607346">
                <a:tc>
                  <a:txBody>
                    <a:bodyPr/>
                    <a:lstStyle/>
                    <a:p>
                      <a:r>
                        <a:rPr lang="en-IN" sz="1600" b="1"/>
                        <a:t>'r'</a:t>
                      </a:r>
                      <a:endParaRPr lang="en-IN" sz="1600"/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Read</a:t>
                      </a:r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Default. Opens a file for reading; error if the file doesn't exist.</a:t>
                      </a:r>
                    </a:p>
                  </a:txBody>
                  <a:tcPr marL="80454" marR="80454" marT="40227" marB="40227" anchor="ctr"/>
                </a:tc>
                <a:extLst>
                  <a:ext uri="{0D108BD9-81ED-4DB2-BD59-A6C34878D82A}">
                    <a16:rowId xmlns:a16="http://schemas.microsoft.com/office/drawing/2014/main" val="3477330233"/>
                  </a:ext>
                </a:extLst>
              </a:tr>
              <a:tr h="782326">
                <a:tc>
                  <a:txBody>
                    <a:bodyPr/>
                    <a:lstStyle/>
                    <a:p>
                      <a:r>
                        <a:rPr lang="en-IN" sz="1600" b="1" dirty="0"/>
                        <a:t>'w'</a:t>
                      </a:r>
                      <a:endParaRPr lang="en-IN" sz="1600" dirty="0"/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Write</a:t>
                      </a:r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Opens for writing; creates the file if it doesn't exist or </a:t>
                      </a:r>
                      <a:r>
                        <a:rPr lang="en-US" sz="1600" b="1"/>
                        <a:t>overwrites</a:t>
                      </a:r>
                      <a:r>
                        <a:rPr lang="en-US" sz="1600"/>
                        <a:t> it.</a:t>
                      </a:r>
                    </a:p>
                  </a:txBody>
                  <a:tcPr marL="80454" marR="80454" marT="40227" marB="40227" anchor="ctr"/>
                </a:tc>
                <a:extLst>
                  <a:ext uri="{0D108BD9-81ED-4DB2-BD59-A6C34878D82A}">
                    <a16:rowId xmlns:a16="http://schemas.microsoft.com/office/drawing/2014/main" val="2216778791"/>
                  </a:ext>
                </a:extLst>
              </a:tr>
              <a:tr h="782326">
                <a:tc>
                  <a:txBody>
                    <a:bodyPr/>
                    <a:lstStyle/>
                    <a:p>
                      <a:r>
                        <a:rPr lang="en-IN" sz="1600" b="1"/>
                        <a:t>'a'</a:t>
                      </a:r>
                      <a:endParaRPr lang="en-IN" sz="1600"/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Append</a:t>
                      </a:r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Opens for writing; creates the file if it doesn't exist and </a:t>
                      </a:r>
                      <a:r>
                        <a:rPr lang="en-US" sz="1600" b="1"/>
                        <a:t>adds</a:t>
                      </a:r>
                      <a:r>
                        <a:rPr lang="en-US" sz="1600"/>
                        <a:t> to the end.</a:t>
                      </a:r>
                    </a:p>
                  </a:txBody>
                  <a:tcPr marL="80454" marR="80454" marT="40227" marB="40227" anchor="ctr"/>
                </a:tc>
                <a:extLst>
                  <a:ext uri="{0D108BD9-81ED-4DB2-BD59-A6C34878D82A}">
                    <a16:rowId xmlns:a16="http://schemas.microsoft.com/office/drawing/2014/main" val="750078636"/>
                  </a:ext>
                </a:extLst>
              </a:tr>
              <a:tr h="607346">
                <a:tc>
                  <a:txBody>
                    <a:bodyPr/>
                    <a:lstStyle/>
                    <a:p>
                      <a:r>
                        <a:rPr lang="en-IN" sz="1600" b="1"/>
                        <a:t>'x'</a:t>
                      </a:r>
                      <a:endParaRPr lang="en-IN" sz="1600"/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Create</a:t>
                      </a:r>
                    </a:p>
                  </a:txBody>
                  <a:tcPr marL="80454" marR="80454" marT="40227" marB="40227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Creates the specified file; returns an error if the file exists.</a:t>
                      </a:r>
                    </a:p>
                  </a:txBody>
                  <a:tcPr marL="80454" marR="80454" marT="40227" marB="40227" anchor="ctr"/>
                </a:tc>
                <a:extLst>
                  <a:ext uri="{0D108BD9-81ED-4DB2-BD59-A6C34878D82A}">
                    <a16:rowId xmlns:a16="http://schemas.microsoft.com/office/drawing/2014/main" val="479219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9005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73DB-B986-4F8E-B83D-2539F633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BEF77-D9E5-46F9-A085-D666AEDAE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Writing to a File</a:t>
            </a:r>
          </a:p>
          <a:p>
            <a:r>
              <a:rPr lang="en-US" dirty="0"/>
              <a:t>When writing, you can use .write() for strings or .</a:t>
            </a:r>
            <a:r>
              <a:rPr lang="en-US" dirty="0" err="1"/>
              <a:t>writelines</a:t>
            </a:r>
            <a:r>
              <a:rPr lang="en-US" dirty="0"/>
              <a:t>() for a list of strings.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# Creating and writing to a new file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 = open("example.txt", "w")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f.write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("Hello! This is a test file.\n")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f.write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("Python makes file handling easy.")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f.close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() # Always close the file to save changes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830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67A3-ABC1-44AD-9C66-7C82FCE9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CF4A-B108-4E25-9BFE-7393F8699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/>
              <a:t>You can read the entire content, a single line, or loop through lines.</a:t>
            </a:r>
          </a:p>
          <a:p>
            <a:endParaRPr lang="en-US" sz="1800" dirty="0"/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f = open("example.txt", "r")</a:t>
            </a:r>
          </a:p>
          <a:p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# Option 1: Read the whole thing</a:t>
            </a:r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# print(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f.read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()) </a:t>
            </a:r>
          </a:p>
          <a:p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# Option 2: Read line by line</a:t>
            </a:r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print(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f.readline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()) </a:t>
            </a:r>
          </a:p>
          <a:p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f.close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()</a:t>
            </a:r>
            <a:endParaRPr lang="en-IN" sz="1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623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6BA7-DF4A-4360-86BC-FD6A3B04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6A006-6D38-49E3-B0B4-18CD9CD56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'a' to add new data without deleting what is already there.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 = open("example.txt", "a")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f.write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("\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nThis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line was appended later.")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f.close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()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3814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9FDA-4074-4591-A6B0-4FD459F1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with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322D-160E-4894-94F6-DE186F4F9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automatically closes the file for you, even if an error occurs during the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# No need to call .close() manually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with open("example.txt", "r") as file: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content =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file.read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print(content)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063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5ECF2-DEEE-44B2-A514-E62B480D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Deleting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0F6BC-525D-4D3B-A471-0BDE00659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a file, you must import the </a:t>
            </a:r>
            <a:r>
              <a:rPr lang="en-US" dirty="0" err="1"/>
              <a:t>os</a:t>
            </a:r>
            <a:r>
              <a:rPr lang="en-US" dirty="0"/>
              <a:t> module.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os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os.path.exists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("example.txt"):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os.remove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("example.txt")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else: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print("The file does not exist")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7474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E821-8092-4E5E-BD63-D77AEAEF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Basic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22E35-17B8-46E5-97D3-C36714FF1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endParaRPr lang="en-IN" dirty="0"/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("App Title")</a:t>
            </a:r>
          </a:p>
          <a:p>
            <a:r>
              <a:rPr lang="en-IN" dirty="0" err="1"/>
              <a:t>root.geometry</a:t>
            </a:r>
            <a:r>
              <a:rPr lang="en-IN" dirty="0"/>
              <a:t>("400x300")</a:t>
            </a:r>
          </a:p>
          <a:p>
            <a:endParaRPr lang="en-IN" dirty="0"/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617535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6C9B-31F1-4A3F-A871-E7586F87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Labels, Entry,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72D09-F569-4C5A-BB3A-77CE1B1F0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 err="1"/>
              <a:t>tk.Label</a:t>
            </a:r>
            <a:r>
              <a:rPr lang="en-IN" dirty="0"/>
              <a:t>(root, text="Text").pack()</a:t>
            </a:r>
          </a:p>
          <a:p>
            <a:endParaRPr lang="en-IN" dirty="0"/>
          </a:p>
          <a:p>
            <a:r>
              <a:rPr lang="en-IN" dirty="0"/>
              <a:t>entry = </a:t>
            </a:r>
            <a:r>
              <a:rPr lang="en-IN" dirty="0" err="1"/>
              <a:t>tk.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Entry</a:t>
            </a:r>
            <a:r>
              <a:rPr lang="en-IN" dirty="0"/>
              <a:t>(root)</a:t>
            </a:r>
          </a:p>
          <a:p>
            <a:r>
              <a:rPr lang="en-IN" dirty="0" err="1"/>
              <a:t>entry.pack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tk.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Button</a:t>
            </a:r>
            <a:r>
              <a:rPr lang="en-IN" dirty="0"/>
              <a:t>(root, text="Click", command=</a:t>
            </a:r>
            <a:r>
              <a:rPr lang="en-IN" dirty="0" err="1"/>
              <a:t>function_name</a:t>
            </a:r>
            <a:r>
              <a:rPr lang="en-IN" dirty="0"/>
              <a:t>).pack()</a:t>
            </a:r>
          </a:p>
        </p:txBody>
      </p:sp>
    </p:spTree>
    <p:extLst>
      <p:ext uri="{BB962C8B-B14F-4D97-AF65-F5344CB8AC3E}">
        <p14:creationId xmlns:p14="http://schemas.microsoft.com/office/powerpoint/2010/main" val="23244108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F13D-27E8-4A9D-8508-63A61C22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Widget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4BB23-FE21-401A-83AF-215D119D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IN" dirty="0" err="1"/>
              <a:t>var_str</a:t>
            </a:r>
            <a:r>
              <a:rPr lang="en-IN" dirty="0"/>
              <a:t> = </a:t>
            </a:r>
            <a:r>
              <a:rPr lang="en-IN" dirty="0" err="1"/>
              <a:t>tk.StringVar</a:t>
            </a:r>
            <a:r>
              <a:rPr lang="en-IN" dirty="0"/>
              <a:t>()</a:t>
            </a:r>
          </a:p>
          <a:p>
            <a:r>
              <a:rPr lang="en-IN" dirty="0" err="1"/>
              <a:t>var_int</a:t>
            </a:r>
            <a:r>
              <a:rPr lang="en-IN" dirty="0"/>
              <a:t> = </a:t>
            </a:r>
            <a:r>
              <a:rPr lang="en-IN" dirty="0" err="1"/>
              <a:t>tk.IntVar</a:t>
            </a:r>
            <a:r>
              <a:rPr lang="en-IN" dirty="0"/>
              <a:t>()</a:t>
            </a:r>
          </a:p>
          <a:p>
            <a:r>
              <a:rPr lang="en-IN" dirty="0" err="1"/>
              <a:t>var_double</a:t>
            </a:r>
            <a:r>
              <a:rPr lang="en-IN" dirty="0"/>
              <a:t> = </a:t>
            </a:r>
            <a:r>
              <a:rPr lang="en-IN" dirty="0" err="1"/>
              <a:t>tk.DoubleVar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455167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D979-1027-425A-A297-403AAA4F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Radio, Check, Spin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13FE-CFDB-49D3-936D-E93614055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Radio</a:t>
            </a:r>
          </a:p>
          <a:p>
            <a:r>
              <a:rPr lang="en-IN" dirty="0" err="1"/>
              <a:t>tk.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Radiobutton</a:t>
            </a:r>
            <a:r>
              <a:rPr lang="en-IN" dirty="0"/>
              <a:t>(root, text="Male", variable=</a:t>
            </a:r>
            <a:r>
              <a:rPr lang="en-IN" dirty="0" err="1"/>
              <a:t>var_str</a:t>
            </a:r>
            <a:r>
              <a:rPr lang="en-IN" dirty="0"/>
              <a:t>, value="Male").pack()</a:t>
            </a:r>
          </a:p>
          <a:p>
            <a:endParaRPr lang="en-IN" dirty="0"/>
          </a:p>
          <a:p>
            <a:r>
              <a:rPr lang="en-IN" dirty="0"/>
              <a:t># Checkbox</a:t>
            </a:r>
          </a:p>
          <a:p>
            <a:r>
              <a:rPr lang="en-IN" dirty="0" err="1"/>
              <a:t>tk.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Checkbutto</a:t>
            </a:r>
            <a:r>
              <a:rPr lang="en-IN" dirty="0" err="1"/>
              <a:t>n</a:t>
            </a:r>
            <a:r>
              <a:rPr lang="en-IN" dirty="0"/>
              <a:t>(root, text="Agree", variable=</a:t>
            </a:r>
            <a:r>
              <a:rPr lang="en-IN" dirty="0" err="1"/>
              <a:t>var_int</a:t>
            </a:r>
            <a:r>
              <a:rPr lang="en-IN" dirty="0"/>
              <a:t>).pack()</a:t>
            </a:r>
          </a:p>
          <a:p>
            <a:endParaRPr lang="en-IN" dirty="0"/>
          </a:p>
          <a:p>
            <a:r>
              <a:rPr lang="en-IN" dirty="0"/>
              <a:t># </a:t>
            </a:r>
            <a:r>
              <a:rPr lang="en-IN" dirty="0" err="1"/>
              <a:t>Spinbox</a:t>
            </a:r>
            <a:endParaRPr lang="en-IN" dirty="0"/>
          </a:p>
          <a:p>
            <a:r>
              <a:rPr lang="en-IN" dirty="0" err="1"/>
              <a:t>tk.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Spinbox</a:t>
            </a:r>
            <a:r>
              <a:rPr lang="en-IN" dirty="0"/>
              <a:t>(root, from_=0, to=10).pack()</a:t>
            </a:r>
          </a:p>
        </p:txBody>
      </p:sp>
    </p:spTree>
    <p:extLst>
      <p:ext uri="{BB962C8B-B14F-4D97-AF65-F5344CB8AC3E}">
        <p14:creationId xmlns:p14="http://schemas.microsoft.com/office/powerpoint/2010/main" val="84676904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2CF00-61AF-41C1-AA25-3638386B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Dropdown &amp; </a:t>
            </a:r>
            <a:r>
              <a:rPr lang="en-IN" dirty="0" err="1"/>
              <a:t>Listbox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F4D9-00BC-4CC8-8A15-72B71D388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Dropdown</a:t>
            </a:r>
          </a:p>
          <a:p>
            <a:r>
              <a:rPr lang="en-IN" dirty="0" err="1"/>
              <a:t>tk.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OptionMenu</a:t>
            </a:r>
            <a:r>
              <a:rPr lang="en-IN" dirty="0"/>
              <a:t>(root, </a:t>
            </a:r>
            <a:r>
              <a:rPr lang="en-IN" dirty="0" err="1"/>
              <a:t>var_str</a:t>
            </a:r>
            <a:r>
              <a:rPr lang="en-IN" dirty="0"/>
              <a:t>, "A", "B", "C").pack()</a:t>
            </a:r>
          </a:p>
          <a:p>
            <a:endParaRPr lang="en-IN" dirty="0"/>
          </a:p>
          <a:p>
            <a:r>
              <a:rPr lang="en-IN" dirty="0"/>
              <a:t># </a:t>
            </a:r>
            <a:r>
              <a:rPr lang="en-IN" dirty="0" err="1"/>
              <a:t>Listbox</a:t>
            </a:r>
            <a:endParaRPr lang="en-IN" dirty="0"/>
          </a:p>
          <a:p>
            <a:r>
              <a:rPr lang="en-IN" dirty="0" err="1"/>
              <a:t>listbox</a:t>
            </a:r>
            <a:r>
              <a:rPr lang="en-IN" dirty="0"/>
              <a:t> = </a:t>
            </a:r>
            <a:r>
              <a:rPr lang="en-IN" dirty="0" err="1"/>
              <a:t>tk.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Listbox</a:t>
            </a:r>
            <a:r>
              <a:rPr lang="en-IN" dirty="0"/>
              <a:t>(root)</a:t>
            </a:r>
          </a:p>
          <a:p>
            <a:r>
              <a:rPr lang="en-IN" dirty="0" err="1"/>
              <a:t>listbox.insert</a:t>
            </a:r>
            <a:r>
              <a:rPr lang="en-IN" dirty="0"/>
              <a:t>(</a:t>
            </a:r>
            <a:r>
              <a:rPr lang="en-IN" dirty="0" err="1"/>
              <a:t>tk.END</a:t>
            </a:r>
            <a:r>
              <a:rPr lang="en-IN" dirty="0"/>
              <a:t>, "Item")</a:t>
            </a:r>
          </a:p>
          <a:p>
            <a:r>
              <a:rPr lang="en-IN" dirty="0" err="1"/>
              <a:t>listbox.pack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631204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4F63-9238-41FD-9740-AC6485783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Geometry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59C3F-D94E-4773-B414-649148A06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Pack</a:t>
            </a:r>
          </a:p>
          <a:p>
            <a:r>
              <a:rPr lang="en-US" dirty="0" err="1"/>
              <a:t>widget.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pack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Grid</a:t>
            </a:r>
          </a:p>
          <a:p>
            <a:r>
              <a:rPr lang="en-US" dirty="0" err="1"/>
              <a:t>widget.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grid</a:t>
            </a:r>
            <a:r>
              <a:rPr lang="en-US" dirty="0"/>
              <a:t>(row=0, column=0)</a:t>
            </a:r>
          </a:p>
          <a:p>
            <a:endParaRPr lang="en-US" dirty="0"/>
          </a:p>
          <a:p>
            <a:r>
              <a:rPr lang="en-US" dirty="0"/>
              <a:t># Place</a:t>
            </a:r>
          </a:p>
          <a:p>
            <a:r>
              <a:rPr lang="en-US" dirty="0" err="1"/>
              <a:t>widget.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place</a:t>
            </a:r>
            <a:r>
              <a:rPr lang="en-US" dirty="0"/>
              <a:t>(x=50, y=50)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1253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6AAD-3E09-4741-A19F-015BEABF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Widget Styling (Properties)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AC439-8114-4810-A836-BB66C82AB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tk.Label</a:t>
            </a:r>
            <a:r>
              <a:rPr lang="en-US" dirty="0"/>
              <a:t>(root, 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text="Hello",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bg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="blue",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fg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="white",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font=("Arial", 14),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width=20,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height=2</a:t>
            </a:r>
          </a:p>
          <a:p>
            <a:r>
              <a:rPr lang="en-US" dirty="0"/>
              <a:t>).pack()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34123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DE54-9659-4009-98F6-F7624A82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8. Event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2B9A-D55E-4FA1-9A7F-8BAE3D309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 </a:t>
            </a:r>
            <a:r>
              <a:rPr lang="en-US" b="1" dirty="0"/>
              <a:t>click</a:t>
            </a:r>
            <a:r>
              <a:rPr lang="en-US" dirty="0"/>
              <a:t>():</a:t>
            </a:r>
          </a:p>
          <a:p>
            <a:r>
              <a:rPr lang="en-US" dirty="0"/>
              <a:t>    print("Clicked")</a:t>
            </a:r>
          </a:p>
          <a:p>
            <a:endParaRPr lang="en-US" dirty="0"/>
          </a:p>
          <a:p>
            <a:r>
              <a:rPr lang="en-US" dirty="0" err="1"/>
              <a:t>tk.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Button</a:t>
            </a:r>
            <a:r>
              <a:rPr lang="en-US" dirty="0"/>
              <a:t>(root, text="Click", </a:t>
            </a:r>
            <a:r>
              <a:rPr lang="en-US" b="1" dirty="0"/>
              <a:t>command=click</a:t>
            </a:r>
            <a:r>
              <a:rPr lang="en-US" dirty="0"/>
              <a:t>).pack()</a:t>
            </a:r>
          </a:p>
          <a:p>
            <a:endParaRPr lang="en-US" dirty="0"/>
          </a:p>
          <a:p>
            <a:r>
              <a:rPr lang="en-US" dirty="0"/>
              <a:t># Key / Mouse Event</a:t>
            </a:r>
          </a:p>
          <a:p>
            <a:r>
              <a:rPr lang="en-US" dirty="0"/>
              <a:t>def </a:t>
            </a:r>
            <a:r>
              <a:rPr lang="en-US" dirty="0" err="1"/>
              <a:t>key_event</a:t>
            </a:r>
            <a:r>
              <a:rPr lang="en-US" dirty="0"/>
              <a:t>(event):</a:t>
            </a:r>
          </a:p>
          <a:p>
            <a:r>
              <a:rPr lang="en-US" dirty="0"/>
              <a:t>    print(</a:t>
            </a:r>
            <a:r>
              <a:rPr lang="en-US" dirty="0" err="1"/>
              <a:t>event.char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root.bind</a:t>
            </a:r>
            <a:r>
              <a:rPr lang="en-US" dirty="0"/>
              <a:t>("&lt;Key&gt;", </a:t>
            </a:r>
            <a:r>
              <a:rPr lang="en-US" dirty="0" err="1"/>
              <a:t>key_event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9026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0ACF-9D1C-43D1-8ADF-05D71672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Message &amp; Dialog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6CB5-D9AF-437D-BB20-4AB2D0733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</a:t>
            </a:r>
            <a:r>
              <a:rPr lang="en-IN" dirty="0" err="1"/>
              <a:t>tkinter</a:t>
            </a:r>
            <a:r>
              <a:rPr lang="en-IN" dirty="0"/>
              <a:t> import </a:t>
            </a:r>
            <a:r>
              <a:rPr lang="en-IN" dirty="0" err="1">
                <a:solidFill>
                  <a:srgbClr val="FF0000"/>
                </a:solidFill>
              </a:rPr>
              <a:t>messagebox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filedialog</a:t>
            </a:r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  <a:p>
            <a:r>
              <a:rPr lang="en-IN" dirty="0" err="1"/>
              <a:t>messagebox.showinfo</a:t>
            </a:r>
            <a:r>
              <a:rPr lang="en-IN" dirty="0"/>
              <a:t>("Title", "Message")</a:t>
            </a:r>
          </a:p>
          <a:p>
            <a:r>
              <a:rPr lang="en-IN" dirty="0" err="1"/>
              <a:t>messagebox.showerror</a:t>
            </a:r>
            <a:r>
              <a:rPr lang="en-IN" dirty="0"/>
              <a:t>("Error", "Something wrong")</a:t>
            </a:r>
          </a:p>
          <a:p>
            <a:endParaRPr lang="en-IN" dirty="0"/>
          </a:p>
          <a:p>
            <a:r>
              <a:rPr lang="en-IN" dirty="0"/>
              <a:t>file = </a:t>
            </a:r>
            <a:r>
              <a:rPr lang="en-IN" dirty="0" err="1"/>
              <a:t>filedialog.askopenfilename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070294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CB0B6-E494-479C-A3CD-8681E6E6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10. Menu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5580-B670-4E4B-8C27-C1790B31D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menu = </a:t>
            </a:r>
            <a:r>
              <a:rPr lang="en-IN" dirty="0" err="1"/>
              <a:t>tk.Menu</a:t>
            </a:r>
            <a:r>
              <a:rPr lang="en-IN" dirty="0"/>
              <a:t>(root)</a:t>
            </a:r>
          </a:p>
          <a:p>
            <a:r>
              <a:rPr lang="en-IN" dirty="0" err="1"/>
              <a:t>root.config</a:t>
            </a:r>
            <a:r>
              <a:rPr lang="en-IN" dirty="0"/>
              <a:t>(menu=menu)</a:t>
            </a:r>
          </a:p>
          <a:p>
            <a:endParaRPr lang="en-IN" dirty="0"/>
          </a:p>
          <a:p>
            <a:r>
              <a:rPr lang="en-IN" dirty="0" err="1"/>
              <a:t>file_menu</a:t>
            </a:r>
            <a:r>
              <a:rPr lang="en-IN" dirty="0"/>
              <a:t> = </a:t>
            </a:r>
            <a:r>
              <a:rPr lang="en-IN" dirty="0" err="1"/>
              <a:t>tk.Menu</a:t>
            </a:r>
            <a:r>
              <a:rPr lang="en-IN" dirty="0"/>
              <a:t>(menu)</a:t>
            </a:r>
          </a:p>
          <a:p>
            <a:r>
              <a:rPr lang="en-IN" dirty="0" err="1"/>
              <a:t>menu.add_cascade</a:t>
            </a:r>
            <a:r>
              <a:rPr lang="en-IN" dirty="0"/>
              <a:t>(label="File", menu=</a:t>
            </a:r>
            <a:r>
              <a:rPr lang="en-IN" dirty="0" err="1"/>
              <a:t>file_menu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 err="1"/>
              <a:t>file_menu.add_command</a:t>
            </a:r>
            <a:r>
              <a:rPr lang="en-IN" dirty="0"/>
              <a:t>(label="Open")</a:t>
            </a:r>
          </a:p>
          <a:p>
            <a:r>
              <a:rPr lang="en-IN" dirty="0" err="1"/>
              <a:t>file_menu.add_separator</a:t>
            </a:r>
            <a:r>
              <a:rPr lang="en-IN" dirty="0"/>
              <a:t>()</a:t>
            </a:r>
          </a:p>
          <a:p>
            <a:r>
              <a:rPr lang="en-IN" dirty="0" err="1"/>
              <a:t>file_menu.add_command</a:t>
            </a:r>
            <a:r>
              <a:rPr lang="en-IN" dirty="0"/>
              <a:t>(label="Exit", command=</a:t>
            </a:r>
            <a:r>
              <a:rPr lang="en-IN" dirty="0" err="1"/>
              <a:t>root.quit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69048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C2FB-8BA6-431E-B382-25AC3D7A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Toolbar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CADB-01DE-46B4-ACD4-B92FBDFCD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 = </a:t>
            </a:r>
            <a:r>
              <a:rPr lang="en-US" dirty="0" err="1"/>
              <a:t>tk.Frame</a:t>
            </a:r>
            <a:r>
              <a:rPr lang="en-US" dirty="0"/>
              <a:t>(root)</a:t>
            </a:r>
          </a:p>
          <a:p>
            <a:r>
              <a:rPr lang="en-US" dirty="0" err="1"/>
              <a:t>tk.Button</a:t>
            </a:r>
            <a:r>
              <a:rPr lang="en-US" dirty="0"/>
              <a:t>(frame, text="New").pack(side="left")</a:t>
            </a:r>
          </a:p>
          <a:p>
            <a:r>
              <a:rPr lang="en-US" dirty="0" err="1"/>
              <a:t>frame.pack</a:t>
            </a:r>
            <a:r>
              <a:rPr lang="en-US" dirty="0"/>
              <a:t>(fill="x")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7268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F3D7-8DE9-46AF-A257-6DD89F08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12.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CCC6-5667-409D-BE61-7FF34B763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frame = </a:t>
            </a:r>
            <a:r>
              <a:rPr lang="en-IN" dirty="0" err="1"/>
              <a:t>tk.Frame</a:t>
            </a:r>
            <a:r>
              <a:rPr lang="en-IN" dirty="0"/>
              <a:t>(root, </a:t>
            </a:r>
            <a:r>
              <a:rPr lang="en-IN" dirty="0" err="1"/>
              <a:t>bg</a:t>
            </a:r>
            <a:r>
              <a:rPr lang="en-IN" dirty="0"/>
              <a:t>="</a:t>
            </a:r>
            <a:r>
              <a:rPr lang="en-IN" dirty="0" err="1"/>
              <a:t>gray</a:t>
            </a:r>
            <a:r>
              <a:rPr lang="en-IN" dirty="0"/>
              <a:t>")</a:t>
            </a:r>
            <a:br>
              <a:rPr lang="en-IN" dirty="0"/>
            </a:br>
            <a:r>
              <a:rPr lang="en-IN" dirty="0" err="1"/>
              <a:t>frame.pack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tk.Label</a:t>
            </a:r>
            <a:r>
              <a:rPr lang="en-IN" dirty="0"/>
              <a:t>(frame, text="Inside Frame").pack()</a:t>
            </a:r>
          </a:p>
        </p:txBody>
      </p:sp>
    </p:spTree>
    <p:extLst>
      <p:ext uri="{BB962C8B-B14F-4D97-AF65-F5344CB8AC3E}">
        <p14:creationId xmlns:p14="http://schemas.microsoft.com/office/powerpoint/2010/main" val="33091322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05D8-BDE3-4859-B62D-3066D062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13. Scrollbar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1A77-5FCF-48C7-B384-AE8B5B926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scroll = </a:t>
            </a:r>
            <a:r>
              <a:rPr lang="en-IN" dirty="0" err="1"/>
              <a:t>tk.Scrollbar</a:t>
            </a:r>
            <a:r>
              <a:rPr lang="en-IN" dirty="0"/>
              <a:t>(root)</a:t>
            </a:r>
            <a:br>
              <a:rPr lang="en-IN" dirty="0"/>
            </a:br>
            <a:r>
              <a:rPr lang="en-IN" dirty="0" err="1"/>
              <a:t>listbox</a:t>
            </a:r>
            <a:r>
              <a:rPr lang="en-IN" dirty="0"/>
              <a:t> = </a:t>
            </a:r>
            <a:r>
              <a:rPr lang="en-IN" dirty="0" err="1"/>
              <a:t>tk.Listbox</a:t>
            </a:r>
            <a:r>
              <a:rPr lang="en-IN" dirty="0"/>
              <a:t>(root, </a:t>
            </a:r>
            <a:r>
              <a:rPr lang="en-IN" dirty="0" err="1"/>
              <a:t>yscrollcommand</a:t>
            </a:r>
            <a:r>
              <a:rPr lang="en-IN" dirty="0"/>
              <a:t>=</a:t>
            </a:r>
            <a:r>
              <a:rPr lang="en-IN" dirty="0" err="1"/>
              <a:t>scroll.set</a:t>
            </a:r>
            <a:r>
              <a:rPr lang="en-IN" dirty="0"/>
              <a:t>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scroll.config</a:t>
            </a:r>
            <a:r>
              <a:rPr lang="en-IN" dirty="0"/>
              <a:t>(command=</a:t>
            </a:r>
            <a:r>
              <a:rPr lang="en-IN" dirty="0" err="1"/>
              <a:t>listbox.yview</a:t>
            </a:r>
            <a:r>
              <a:rPr lang="en-IN" dirty="0"/>
              <a:t>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scroll.pack</a:t>
            </a:r>
            <a:r>
              <a:rPr lang="en-IN" dirty="0"/>
              <a:t>(side="right", fill="y")</a:t>
            </a:r>
            <a:br>
              <a:rPr lang="en-IN" dirty="0"/>
            </a:br>
            <a:r>
              <a:rPr lang="en-IN" dirty="0" err="1"/>
              <a:t>listbox.pack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43629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FEFE-39A2-4CB3-B265-DDB75495C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Notepad application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98E8-C428-47C5-AE38-51D93B11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52650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8CE3-BD31-4740-9FAC-125DA4A4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28B8-1223-445A-9981-1F5E257AF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0050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1517</TotalTime>
  <Words>4000</Words>
  <Application>Microsoft Office PowerPoint</Application>
  <PresentationFormat>On-screen Show (4:3)</PresentationFormat>
  <Paragraphs>713</Paragraphs>
  <Slides>98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8" baseType="lpstr">
      <vt:lpstr>Arial</vt:lpstr>
      <vt:lpstr>Arial Unicode MS</vt:lpstr>
      <vt:lpstr>Calibri</vt:lpstr>
      <vt:lpstr>Calibri Light</vt:lpstr>
      <vt:lpstr>Consolas</vt:lpstr>
      <vt:lpstr>Courier New</vt:lpstr>
      <vt:lpstr>Google Sans Text</vt:lpstr>
      <vt:lpstr>Segoe UI</vt:lpstr>
      <vt:lpstr>Wingdings</vt:lpstr>
      <vt:lpstr>Retrospect</vt:lpstr>
      <vt:lpstr>Python</vt:lpstr>
      <vt:lpstr>Why Python?</vt:lpstr>
      <vt:lpstr>Simple Syntax</vt:lpstr>
      <vt:lpstr>Faster Development</vt:lpstr>
      <vt:lpstr>Huge Libraries</vt:lpstr>
      <vt:lpstr>Trending Technologies</vt:lpstr>
      <vt:lpstr>Platform Independent</vt:lpstr>
      <vt:lpstr>Easy Debugging</vt:lpstr>
      <vt:lpstr>Dynamic Typing</vt:lpstr>
      <vt:lpstr>Strong Community</vt:lpstr>
      <vt:lpstr>Python Installation &amp; Execution</vt:lpstr>
      <vt:lpstr>PowerPoint Presentation</vt:lpstr>
      <vt:lpstr>Data Types</vt:lpstr>
      <vt:lpstr>Input &amp; Output</vt:lpstr>
      <vt:lpstr>Type Conversion</vt:lpstr>
      <vt:lpstr>Comments</vt:lpstr>
      <vt:lpstr>Activity corner- input &amp;output</vt:lpstr>
      <vt:lpstr>Operators</vt:lpstr>
      <vt:lpstr>Arithmetic Operators</vt:lpstr>
      <vt:lpstr>Assignment Operators</vt:lpstr>
      <vt:lpstr>Comparison Operators</vt:lpstr>
      <vt:lpstr>Logical Operators</vt:lpstr>
      <vt:lpstr>Control statements and looping</vt:lpstr>
      <vt:lpstr>Control Structures</vt:lpstr>
      <vt:lpstr>Elif                                Else</vt:lpstr>
      <vt:lpstr>Activity corner –If condition</vt:lpstr>
      <vt:lpstr>Looping statements- for</vt:lpstr>
      <vt:lpstr>while</vt:lpstr>
      <vt:lpstr>break</vt:lpstr>
      <vt:lpstr>continue</vt:lpstr>
      <vt:lpstr>Range</vt:lpstr>
      <vt:lpstr>Lambda function</vt:lpstr>
      <vt:lpstr>Activity corner –Loops,Range</vt:lpstr>
      <vt:lpstr>Built-in Functions</vt:lpstr>
      <vt:lpstr>1. String Functions</vt:lpstr>
      <vt:lpstr>2. Math Functions</vt:lpstr>
      <vt:lpstr>Date &amp; Time</vt:lpstr>
      <vt:lpstr>Regex</vt:lpstr>
      <vt:lpstr>Statistics</vt:lpstr>
      <vt:lpstr>Activity corner</vt:lpstr>
      <vt:lpstr>Email Sending</vt:lpstr>
      <vt:lpstr>Terms and its meaning</vt:lpstr>
      <vt:lpstr>Mail servers</vt:lpstr>
      <vt:lpstr>Functions &amp; Data Structures</vt:lpstr>
      <vt:lpstr>1. Function</vt:lpstr>
      <vt:lpstr>2. Arguments</vt:lpstr>
      <vt:lpstr>3. Default Argument</vt:lpstr>
      <vt:lpstr>4. Recursion</vt:lpstr>
      <vt:lpstr>Arrays / Data Structures</vt:lpstr>
      <vt:lpstr>List</vt:lpstr>
      <vt:lpstr>PowerPoint Presentation</vt:lpstr>
      <vt:lpstr>PowerPoint Presentation</vt:lpstr>
      <vt:lpstr>Tuple – read only list</vt:lpstr>
      <vt:lpstr>PowerPoint Presentation</vt:lpstr>
      <vt:lpstr>PowerPoint Presentation</vt:lpstr>
      <vt:lpstr>Set –unique collection</vt:lpstr>
      <vt:lpstr>PowerPoint Presentation</vt:lpstr>
      <vt:lpstr>PowerPoint Presentation</vt:lpstr>
      <vt:lpstr>Activity corner</vt:lpstr>
      <vt:lpstr>OOP </vt:lpstr>
      <vt:lpstr>Class</vt:lpstr>
      <vt:lpstr>Class example</vt:lpstr>
      <vt:lpstr>The __init__() Method</vt:lpstr>
      <vt:lpstr>Polymorphism</vt:lpstr>
      <vt:lpstr>Inheritance</vt:lpstr>
      <vt:lpstr>Method Overloading (Same Class)</vt:lpstr>
      <vt:lpstr>Method Overriding (Parent vs. Child)</vt:lpstr>
      <vt:lpstr>PowerPoint Presentation</vt:lpstr>
      <vt:lpstr>Key differences </vt:lpstr>
      <vt:lpstr>Activity corner</vt:lpstr>
      <vt:lpstr>Modules and Packages </vt:lpstr>
      <vt:lpstr>Modules</vt:lpstr>
      <vt:lpstr>Packages</vt:lpstr>
      <vt:lpstr>2. The Code</vt:lpstr>
      <vt:lpstr>PowerPoint Presentation</vt:lpstr>
      <vt:lpstr>Usage of package inside Program        main.py</vt:lpstr>
      <vt:lpstr>File handling</vt:lpstr>
      <vt:lpstr>The Core Function: open()</vt:lpstr>
      <vt:lpstr>Common Operations</vt:lpstr>
      <vt:lpstr>Reading from a File</vt:lpstr>
      <vt:lpstr>Appending to a File</vt:lpstr>
      <vt:lpstr>Using with</vt:lpstr>
      <vt:lpstr>Deleting a File</vt:lpstr>
      <vt:lpstr>1. Basic Setup</vt:lpstr>
      <vt:lpstr>2. Labels, Entry, Button</vt:lpstr>
      <vt:lpstr>3. Widget Variables</vt:lpstr>
      <vt:lpstr>4. Radio, Check, Spin</vt:lpstr>
      <vt:lpstr>5. Dropdown &amp; Listbox</vt:lpstr>
      <vt:lpstr>6. Geometry Managers</vt:lpstr>
      <vt:lpstr>7. Widget Styling (Properties)</vt:lpstr>
      <vt:lpstr>8. Event Handling</vt:lpstr>
      <vt:lpstr>9. Message &amp; Dialog Box</vt:lpstr>
      <vt:lpstr>10. Menu Bar</vt:lpstr>
      <vt:lpstr>11. Toolbar</vt:lpstr>
      <vt:lpstr>12. Frames</vt:lpstr>
      <vt:lpstr>13. Scrollbar</vt:lpstr>
      <vt:lpstr>Notepad application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subject/>
  <dc:creator>USER</dc:creator>
  <cp:keywords/>
  <dc:description>generated using python-pptx</dc:description>
  <cp:lastModifiedBy>USER</cp:lastModifiedBy>
  <cp:revision>23</cp:revision>
  <dcterms:created xsi:type="dcterms:W3CDTF">2013-01-27T09:14:16Z</dcterms:created>
  <dcterms:modified xsi:type="dcterms:W3CDTF">2026-07-06T06:14:45Z</dcterms:modified>
  <cp:category/>
</cp:coreProperties>
</file>